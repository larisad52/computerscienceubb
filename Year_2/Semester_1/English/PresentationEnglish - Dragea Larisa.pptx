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64" r:id="rId7"/>
    <p:sldId id="265" r:id="rId8"/>
    <p:sldId id="266" r:id="rId9"/>
    <p:sldId id="268" r:id="rId10"/>
    <p:sldId id="270" r:id="rId11"/>
    <p:sldId id="271" r:id="rId12"/>
    <p:sldId id="273" r:id="rId13"/>
    <p:sldId id="274" r:id="rId14"/>
    <p:sldId id="275" r:id="rId15"/>
    <p:sldId id="276" r:id="rId16"/>
  </p:sldIdLst>
  <p:sldSz cx="12192000" cy="6858000"/>
  <p:notesSz cx="6858000" cy="9144000"/>
  <p:defaultTextStyle>
    <a:defPPr>
      <a:defRPr lang="en-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21"/>
    <p:restoredTop sz="94719"/>
  </p:normalViewPr>
  <p:slideViewPr>
    <p:cSldViewPr snapToGrid="0">
      <p:cViewPr varScale="1">
        <p:scale>
          <a:sx n="115" d="100"/>
          <a:sy n="115" d="100"/>
        </p:scale>
        <p:origin x="240"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54D29-EBAD-9D4D-8F32-0C66A5D1BF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RO"/>
          </a:p>
        </p:txBody>
      </p:sp>
      <p:sp>
        <p:nvSpPr>
          <p:cNvPr id="3" name="Subtitle 2">
            <a:extLst>
              <a:ext uri="{FF2B5EF4-FFF2-40B4-BE49-F238E27FC236}">
                <a16:creationId xmlns:a16="http://schemas.microsoft.com/office/drawing/2014/main" id="{D02B07C3-4F1B-76AB-6871-F67F5DA35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RO"/>
          </a:p>
        </p:txBody>
      </p:sp>
      <p:sp>
        <p:nvSpPr>
          <p:cNvPr id="4" name="Date Placeholder 3">
            <a:extLst>
              <a:ext uri="{FF2B5EF4-FFF2-40B4-BE49-F238E27FC236}">
                <a16:creationId xmlns:a16="http://schemas.microsoft.com/office/drawing/2014/main" id="{FA4B5EBB-0350-2C9D-A6F0-2B2CB5050E1C}"/>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5" name="Footer Placeholder 4">
            <a:extLst>
              <a:ext uri="{FF2B5EF4-FFF2-40B4-BE49-F238E27FC236}">
                <a16:creationId xmlns:a16="http://schemas.microsoft.com/office/drawing/2014/main" id="{22A1BCCC-76A4-ACAF-8CEC-89CBC9FE8EA0}"/>
              </a:ext>
            </a:extLst>
          </p:cNvPr>
          <p:cNvSpPr>
            <a:spLocks noGrp="1"/>
          </p:cNvSpPr>
          <p:nvPr>
            <p:ph type="ftr" sz="quarter" idx="11"/>
          </p:nvPr>
        </p:nvSpPr>
        <p:spPr/>
        <p:txBody>
          <a:bodyPr/>
          <a:lstStyle/>
          <a:p>
            <a:endParaRPr lang="en-RO"/>
          </a:p>
        </p:txBody>
      </p:sp>
      <p:sp>
        <p:nvSpPr>
          <p:cNvPr id="6" name="Slide Number Placeholder 5">
            <a:extLst>
              <a:ext uri="{FF2B5EF4-FFF2-40B4-BE49-F238E27FC236}">
                <a16:creationId xmlns:a16="http://schemas.microsoft.com/office/drawing/2014/main" id="{352FB7AB-7485-6DE7-C41B-D33888F56C3C}"/>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1530338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2C71E-B0DF-5393-BB2C-238FFD3FC410}"/>
              </a:ext>
            </a:extLst>
          </p:cNvPr>
          <p:cNvSpPr>
            <a:spLocks noGrp="1"/>
          </p:cNvSpPr>
          <p:nvPr>
            <p:ph type="title"/>
          </p:nvPr>
        </p:nvSpPr>
        <p:spPr/>
        <p:txBody>
          <a:bodyPr/>
          <a:lstStyle/>
          <a:p>
            <a:r>
              <a:rPr lang="en-US"/>
              <a:t>Click to edit Master title style</a:t>
            </a:r>
            <a:endParaRPr lang="en-RO"/>
          </a:p>
        </p:txBody>
      </p:sp>
      <p:sp>
        <p:nvSpPr>
          <p:cNvPr id="3" name="Content Placeholder 2">
            <a:extLst>
              <a:ext uri="{FF2B5EF4-FFF2-40B4-BE49-F238E27FC236}">
                <a16:creationId xmlns:a16="http://schemas.microsoft.com/office/drawing/2014/main" id="{C2E209E7-8382-43E9-0B22-C7A550519A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4" name="Date Placeholder 3">
            <a:extLst>
              <a:ext uri="{FF2B5EF4-FFF2-40B4-BE49-F238E27FC236}">
                <a16:creationId xmlns:a16="http://schemas.microsoft.com/office/drawing/2014/main" id="{1FA21CAA-E4E5-B1DF-4B36-6F5AEAA85E3D}"/>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5" name="Footer Placeholder 4">
            <a:extLst>
              <a:ext uri="{FF2B5EF4-FFF2-40B4-BE49-F238E27FC236}">
                <a16:creationId xmlns:a16="http://schemas.microsoft.com/office/drawing/2014/main" id="{C2C46111-7037-B1FF-0E1F-74F33399E54E}"/>
              </a:ext>
            </a:extLst>
          </p:cNvPr>
          <p:cNvSpPr>
            <a:spLocks noGrp="1"/>
          </p:cNvSpPr>
          <p:nvPr>
            <p:ph type="ftr" sz="quarter" idx="11"/>
          </p:nvPr>
        </p:nvSpPr>
        <p:spPr/>
        <p:txBody>
          <a:bodyPr/>
          <a:lstStyle/>
          <a:p>
            <a:endParaRPr lang="en-RO"/>
          </a:p>
        </p:txBody>
      </p:sp>
      <p:sp>
        <p:nvSpPr>
          <p:cNvPr id="6" name="Slide Number Placeholder 5">
            <a:extLst>
              <a:ext uri="{FF2B5EF4-FFF2-40B4-BE49-F238E27FC236}">
                <a16:creationId xmlns:a16="http://schemas.microsoft.com/office/drawing/2014/main" id="{DD318189-7620-AA55-E041-C0FAF30D4F08}"/>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322047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6E51-FA36-DE8B-357E-0954D38BD5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RO"/>
          </a:p>
        </p:txBody>
      </p:sp>
      <p:sp>
        <p:nvSpPr>
          <p:cNvPr id="3" name="Text Placeholder 2">
            <a:extLst>
              <a:ext uri="{FF2B5EF4-FFF2-40B4-BE49-F238E27FC236}">
                <a16:creationId xmlns:a16="http://schemas.microsoft.com/office/drawing/2014/main" id="{D8B9CEB8-6BD7-0150-FC06-A87F4B0687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F56EE2-9786-C8E5-DF36-A6D66BB15F23}"/>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5" name="Footer Placeholder 4">
            <a:extLst>
              <a:ext uri="{FF2B5EF4-FFF2-40B4-BE49-F238E27FC236}">
                <a16:creationId xmlns:a16="http://schemas.microsoft.com/office/drawing/2014/main" id="{45045A52-24BF-AA30-DAA0-3B0C8306E2F6}"/>
              </a:ext>
            </a:extLst>
          </p:cNvPr>
          <p:cNvSpPr>
            <a:spLocks noGrp="1"/>
          </p:cNvSpPr>
          <p:nvPr>
            <p:ph type="ftr" sz="quarter" idx="11"/>
          </p:nvPr>
        </p:nvSpPr>
        <p:spPr/>
        <p:txBody>
          <a:bodyPr/>
          <a:lstStyle/>
          <a:p>
            <a:endParaRPr lang="en-RO"/>
          </a:p>
        </p:txBody>
      </p:sp>
      <p:sp>
        <p:nvSpPr>
          <p:cNvPr id="6" name="Slide Number Placeholder 5">
            <a:extLst>
              <a:ext uri="{FF2B5EF4-FFF2-40B4-BE49-F238E27FC236}">
                <a16:creationId xmlns:a16="http://schemas.microsoft.com/office/drawing/2014/main" id="{3A7D801D-2D93-4AFA-923E-99B300E83DA1}"/>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3782651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E46A-F2F1-8E00-3D0D-D56B9671C6CC}"/>
              </a:ext>
            </a:extLst>
          </p:cNvPr>
          <p:cNvSpPr>
            <a:spLocks noGrp="1"/>
          </p:cNvSpPr>
          <p:nvPr>
            <p:ph type="title"/>
          </p:nvPr>
        </p:nvSpPr>
        <p:spPr/>
        <p:txBody>
          <a:bodyPr/>
          <a:lstStyle/>
          <a:p>
            <a:r>
              <a:rPr lang="en-US"/>
              <a:t>Click to edit Master title style</a:t>
            </a:r>
            <a:endParaRPr lang="en-RO"/>
          </a:p>
        </p:txBody>
      </p:sp>
      <p:sp>
        <p:nvSpPr>
          <p:cNvPr id="3" name="Content Placeholder 2">
            <a:extLst>
              <a:ext uri="{FF2B5EF4-FFF2-40B4-BE49-F238E27FC236}">
                <a16:creationId xmlns:a16="http://schemas.microsoft.com/office/drawing/2014/main" id="{E9FCED00-033C-19F4-1D27-C5C06E2F0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4" name="Content Placeholder 3">
            <a:extLst>
              <a:ext uri="{FF2B5EF4-FFF2-40B4-BE49-F238E27FC236}">
                <a16:creationId xmlns:a16="http://schemas.microsoft.com/office/drawing/2014/main" id="{98727797-9060-442B-3BA6-745F838839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5" name="Date Placeholder 4">
            <a:extLst>
              <a:ext uri="{FF2B5EF4-FFF2-40B4-BE49-F238E27FC236}">
                <a16:creationId xmlns:a16="http://schemas.microsoft.com/office/drawing/2014/main" id="{043F72E9-8AC4-26A0-4E27-A8748BEAD2DD}"/>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6" name="Footer Placeholder 5">
            <a:extLst>
              <a:ext uri="{FF2B5EF4-FFF2-40B4-BE49-F238E27FC236}">
                <a16:creationId xmlns:a16="http://schemas.microsoft.com/office/drawing/2014/main" id="{2907D324-55AC-F8D2-74DD-84D5557F1930}"/>
              </a:ext>
            </a:extLst>
          </p:cNvPr>
          <p:cNvSpPr>
            <a:spLocks noGrp="1"/>
          </p:cNvSpPr>
          <p:nvPr>
            <p:ph type="ftr" sz="quarter" idx="11"/>
          </p:nvPr>
        </p:nvSpPr>
        <p:spPr/>
        <p:txBody>
          <a:bodyPr/>
          <a:lstStyle/>
          <a:p>
            <a:endParaRPr lang="en-RO"/>
          </a:p>
        </p:txBody>
      </p:sp>
      <p:sp>
        <p:nvSpPr>
          <p:cNvPr id="7" name="Slide Number Placeholder 6">
            <a:extLst>
              <a:ext uri="{FF2B5EF4-FFF2-40B4-BE49-F238E27FC236}">
                <a16:creationId xmlns:a16="http://schemas.microsoft.com/office/drawing/2014/main" id="{89721F43-60D6-00DA-C9D1-4274B5F68FD0}"/>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171134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69C74-C791-2270-9D93-E038D837C46E}"/>
              </a:ext>
            </a:extLst>
          </p:cNvPr>
          <p:cNvSpPr>
            <a:spLocks noGrp="1"/>
          </p:cNvSpPr>
          <p:nvPr>
            <p:ph type="title"/>
          </p:nvPr>
        </p:nvSpPr>
        <p:spPr>
          <a:xfrm>
            <a:off x="839788" y="365125"/>
            <a:ext cx="10515600" cy="1325563"/>
          </a:xfrm>
        </p:spPr>
        <p:txBody>
          <a:bodyPr/>
          <a:lstStyle/>
          <a:p>
            <a:r>
              <a:rPr lang="en-US"/>
              <a:t>Click to edit Master title style</a:t>
            </a:r>
            <a:endParaRPr lang="en-RO"/>
          </a:p>
        </p:txBody>
      </p:sp>
      <p:sp>
        <p:nvSpPr>
          <p:cNvPr id="3" name="Text Placeholder 2">
            <a:extLst>
              <a:ext uri="{FF2B5EF4-FFF2-40B4-BE49-F238E27FC236}">
                <a16:creationId xmlns:a16="http://schemas.microsoft.com/office/drawing/2014/main" id="{B12BD451-96F6-7393-57D7-92C3B03BB4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989B82-EC5D-A98C-0B23-820197F2E9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5" name="Text Placeholder 4">
            <a:extLst>
              <a:ext uri="{FF2B5EF4-FFF2-40B4-BE49-F238E27FC236}">
                <a16:creationId xmlns:a16="http://schemas.microsoft.com/office/drawing/2014/main" id="{E4CCF02B-BCC2-CFE2-DA0F-848C43063F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A9F4C7-C561-C79C-B714-BA2B317067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7" name="Date Placeholder 6">
            <a:extLst>
              <a:ext uri="{FF2B5EF4-FFF2-40B4-BE49-F238E27FC236}">
                <a16:creationId xmlns:a16="http://schemas.microsoft.com/office/drawing/2014/main" id="{7E8A7EC9-AF89-6815-7105-2A0A72435D13}"/>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8" name="Footer Placeholder 7">
            <a:extLst>
              <a:ext uri="{FF2B5EF4-FFF2-40B4-BE49-F238E27FC236}">
                <a16:creationId xmlns:a16="http://schemas.microsoft.com/office/drawing/2014/main" id="{A4D7D99E-1FCA-7AA8-416C-0353092C58AF}"/>
              </a:ext>
            </a:extLst>
          </p:cNvPr>
          <p:cNvSpPr>
            <a:spLocks noGrp="1"/>
          </p:cNvSpPr>
          <p:nvPr>
            <p:ph type="ftr" sz="quarter" idx="11"/>
          </p:nvPr>
        </p:nvSpPr>
        <p:spPr/>
        <p:txBody>
          <a:bodyPr/>
          <a:lstStyle/>
          <a:p>
            <a:endParaRPr lang="en-RO"/>
          </a:p>
        </p:txBody>
      </p:sp>
      <p:sp>
        <p:nvSpPr>
          <p:cNvPr id="9" name="Slide Number Placeholder 8">
            <a:extLst>
              <a:ext uri="{FF2B5EF4-FFF2-40B4-BE49-F238E27FC236}">
                <a16:creationId xmlns:a16="http://schemas.microsoft.com/office/drawing/2014/main" id="{312A1DAF-1A49-F310-1F4C-FDD60AB7BA1F}"/>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255559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C300D-6A90-179E-F2F0-C08F7B8AE0BB}"/>
              </a:ext>
            </a:extLst>
          </p:cNvPr>
          <p:cNvSpPr>
            <a:spLocks noGrp="1"/>
          </p:cNvSpPr>
          <p:nvPr>
            <p:ph type="title"/>
          </p:nvPr>
        </p:nvSpPr>
        <p:spPr/>
        <p:txBody>
          <a:bodyPr/>
          <a:lstStyle/>
          <a:p>
            <a:r>
              <a:rPr lang="en-US"/>
              <a:t>Click to edit Master title style</a:t>
            </a:r>
            <a:endParaRPr lang="en-RO"/>
          </a:p>
        </p:txBody>
      </p:sp>
      <p:sp>
        <p:nvSpPr>
          <p:cNvPr id="3" name="Date Placeholder 2">
            <a:extLst>
              <a:ext uri="{FF2B5EF4-FFF2-40B4-BE49-F238E27FC236}">
                <a16:creationId xmlns:a16="http://schemas.microsoft.com/office/drawing/2014/main" id="{F509A5BA-7BA3-5F74-B9D0-466D0BC077B7}"/>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4" name="Footer Placeholder 3">
            <a:extLst>
              <a:ext uri="{FF2B5EF4-FFF2-40B4-BE49-F238E27FC236}">
                <a16:creationId xmlns:a16="http://schemas.microsoft.com/office/drawing/2014/main" id="{C55776F5-21A9-983F-53FE-C848A03B73D9}"/>
              </a:ext>
            </a:extLst>
          </p:cNvPr>
          <p:cNvSpPr>
            <a:spLocks noGrp="1"/>
          </p:cNvSpPr>
          <p:nvPr>
            <p:ph type="ftr" sz="quarter" idx="11"/>
          </p:nvPr>
        </p:nvSpPr>
        <p:spPr/>
        <p:txBody>
          <a:bodyPr/>
          <a:lstStyle/>
          <a:p>
            <a:endParaRPr lang="en-RO"/>
          </a:p>
        </p:txBody>
      </p:sp>
      <p:sp>
        <p:nvSpPr>
          <p:cNvPr id="5" name="Slide Number Placeholder 4">
            <a:extLst>
              <a:ext uri="{FF2B5EF4-FFF2-40B4-BE49-F238E27FC236}">
                <a16:creationId xmlns:a16="http://schemas.microsoft.com/office/drawing/2014/main" id="{F97077CB-5E64-B5A4-93BA-E8DA3DA0C7EA}"/>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1982085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03717A-81B3-3BA1-A001-56F96650E13F}"/>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3" name="Footer Placeholder 2">
            <a:extLst>
              <a:ext uri="{FF2B5EF4-FFF2-40B4-BE49-F238E27FC236}">
                <a16:creationId xmlns:a16="http://schemas.microsoft.com/office/drawing/2014/main" id="{B695A0F5-6A33-9D8A-025D-25FE58DD2D2D}"/>
              </a:ext>
            </a:extLst>
          </p:cNvPr>
          <p:cNvSpPr>
            <a:spLocks noGrp="1"/>
          </p:cNvSpPr>
          <p:nvPr>
            <p:ph type="ftr" sz="quarter" idx="11"/>
          </p:nvPr>
        </p:nvSpPr>
        <p:spPr/>
        <p:txBody>
          <a:bodyPr/>
          <a:lstStyle/>
          <a:p>
            <a:endParaRPr lang="en-RO"/>
          </a:p>
        </p:txBody>
      </p:sp>
      <p:sp>
        <p:nvSpPr>
          <p:cNvPr id="4" name="Slide Number Placeholder 3">
            <a:extLst>
              <a:ext uri="{FF2B5EF4-FFF2-40B4-BE49-F238E27FC236}">
                <a16:creationId xmlns:a16="http://schemas.microsoft.com/office/drawing/2014/main" id="{7B32CE0C-1762-5EAC-A996-B905F07EABA6}"/>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358804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E344F-34E7-553B-247C-B7BAE24C38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O"/>
          </a:p>
        </p:txBody>
      </p:sp>
      <p:sp>
        <p:nvSpPr>
          <p:cNvPr id="3" name="Content Placeholder 2">
            <a:extLst>
              <a:ext uri="{FF2B5EF4-FFF2-40B4-BE49-F238E27FC236}">
                <a16:creationId xmlns:a16="http://schemas.microsoft.com/office/drawing/2014/main" id="{70666094-1573-E504-5589-A99E10FC2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4" name="Text Placeholder 3">
            <a:extLst>
              <a:ext uri="{FF2B5EF4-FFF2-40B4-BE49-F238E27FC236}">
                <a16:creationId xmlns:a16="http://schemas.microsoft.com/office/drawing/2014/main" id="{9BD5ABB0-100F-5448-C887-4D942A117E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F46DB5-4AD9-9B80-04CC-F4C4F14537AE}"/>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6" name="Footer Placeholder 5">
            <a:extLst>
              <a:ext uri="{FF2B5EF4-FFF2-40B4-BE49-F238E27FC236}">
                <a16:creationId xmlns:a16="http://schemas.microsoft.com/office/drawing/2014/main" id="{5F236045-8CF4-845C-93DA-8BA0721A4900}"/>
              </a:ext>
            </a:extLst>
          </p:cNvPr>
          <p:cNvSpPr>
            <a:spLocks noGrp="1"/>
          </p:cNvSpPr>
          <p:nvPr>
            <p:ph type="ftr" sz="quarter" idx="11"/>
          </p:nvPr>
        </p:nvSpPr>
        <p:spPr/>
        <p:txBody>
          <a:bodyPr/>
          <a:lstStyle/>
          <a:p>
            <a:endParaRPr lang="en-RO"/>
          </a:p>
        </p:txBody>
      </p:sp>
      <p:sp>
        <p:nvSpPr>
          <p:cNvPr id="7" name="Slide Number Placeholder 6">
            <a:extLst>
              <a:ext uri="{FF2B5EF4-FFF2-40B4-BE49-F238E27FC236}">
                <a16:creationId xmlns:a16="http://schemas.microsoft.com/office/drawing/2014/main" id="{46037479-1AE6-E72A-7F53-5D5EA01CEBB4}"/>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3212531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26167-BFB6-03A0-B510-7DDDCDD769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O"/>
          </a:p>
        </p:txBody>
      </p:sp>
      <p:sp>
        <p:nvSpPr>
          <p:cNvPr id="3" name="Picture Placeholder 2">
            <a:extLst>
              <a:ext uri="{FF2B5EF4-FFF2-40B4-BE49-F238E27FC236}">
                <a16:creationId xmlns:a16="http://schemas.microsoft.com/office/drawing/2014/main" id="{2CB82608-098B-C985-4086-35980ABE07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O"/>
          </a:p>
        </p:txBody>
      </p:sp>
      <p:sp>
        <p:nvSpPr>
          <p:cNvPr id="4" name="Text Placeholder 3">
            <a:extLst>
              <a:ext uri="{FF2B5EF4-FFF2-40B4-BE49-F238E27FC236}">
                <a16:creationId xmlns:a16="http://schemas.microsoft.com/office/drawing/2014/main" id="{31A1461C-3405-0B13-F0E3-A67014E12B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44E21-3F98-5DEA-4E3E-3628378B1DCB}"/>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6" name="Footer Placeholder 5">
            <a:extLst>
              <a:ext uri="{FF2B5EF4-FFF2-40B4-BE49-F238E27FC236}">
                <a16:creationId xmlns:a16="http://schemas.microsoft.com/office/drawing/2014/main" id="{B2D23079-AB36-7A68-1970-403CF82576CF}"/>
              </a:ext>
            </a:extLst>
          </p:cNvPr>
          <p:cNvSpPr>
            <a:spLocks noGrp="1"/>
          </p:cNvSpPr>
          <p:nvPr>
            <p:ph type="ftr" sz="quarter" idx="11"/>
          </p:nvPr>
        </p:nvSpPr>
        <p:spPr/>
        <p:txBody>
          <a:bodyPr/>
          <a:lstStyle/>
          <a:p>
            <a:endParaRPr lang="en-RO"/>
          </a:p>
        </p:txBody>
      </p:sp>
      <p:sp>
        <p:nvSpPr>
          <p:cNvPr id="7" name="Slide Number Placeholder 6">
            <a:extLst>
              <a:ext uri="{FF2B5EF4-FFF2-40B4-BE49-F238E27FC236}">
                <a16:creationId xmlns:a16="http://schemas.microsoft.com/office/drawing/2014/main" id="{88D9E936-FFB6-817F-F843-65F327C73222}"/>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2559285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39A4-7A7F-3E70-769B-AF13FD49C988}"/>
              </a:ext>
            </a:extLst>
          </p:cNvPr>
          <p:cNvSpPr>
            <a:spLocks noGrp="1"/>
          </p:cNvSpPr>
          <p:nvPr>
            <p:ph type="title"/>
          </p:nvPr>
        </p:nvSpPr>
        <p:spPr/>
        <p:txBody>
          <a:bodyPr/>
          <a:lstStyle/>
          <a:p>
            <a:r>
              <a:rPr lang="en-US"/>
              <a:t>Click to edit Master title style</a:t>
            </a:r>
            <a:endParaRPr lang="en-RO"/>
          </a:p>
        </p:txBody>
      </p:sp>
      <p:sp>
        <p:nvSpPr>
          <p:cNvPr id="3" name="Vertical Text Placeholder 2">
            <a:extLst>
              <a:ext uri="{FF2B5EF4-FFF2-40B4-BE49-F238E27FC236}">
                <a16:creationId xmlns:a16="http://schemas.microsoft.com/office/drawing/2014/main" id="{395F5FEC-DF58-4D25-F418-49B4FA5720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4" name="Date Placeholder 3">
            <a:extLst>
              <a:ext uri="{FF2B5EF4-FFF2-40B4-BE49-F238E27FC236}">
                <a16:creationId xmlns:a16="http://schemas.microsoft.com/office/drawing/2014/main" id="{C8459D6C-9796-05BB-8AE7-96B70C72400C}"/>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5" name="Footer Placeholder 4">
            <a:extLst>
              <a:ext uri="{FF2B5EF4-FFF2-40B4-BE49-F238E27FC236}">
                <a16:creationId xmlns:a16="http://schemas.microsoft.com/office/drawing/2014/main" id="{7574B538-15EF-5230-F468-E82184A694D8}"/>
              </a:ext>
            </a:extLst>
          </p:cNvPr>
          <p:cNvSpPr>
            <a:spLocks noGrp="1"/>
          </p:cNvSpPr>
          <p:nvPr>
            <p:ph type="ftr" sz="quarter" idx="11"/>
          </p:nvPr>
        </p:nvSpPr>
        <p:spPr/>
        <p:txBody>
          <a:bodyPr/>
          <a:lstStyle/>
          <a:p>
            <a:endParaRPr lang="en-RO"/>
          </a:p>
        </p:txBody>
      </p:sp>
      <p:sp>
        <p:nvSpPr>
          <p:cNvPr id="6" name="Slide Number Placeholder 5">
            <a:extLst>
              <a:ext uri="{FF2B5EF4-FFF2-40B4-BE49-F238E27FC236}">
                <a16:creationId xmlns:a16="http://schemas.microsoft.com/office/drawing/2014/main" id="{3A9F0C0F-3881-ABC0-47FA-AB9A6A64E06E}"/>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894716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A9B032-D01D-4E7A-A644-AD22339C82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RO"/>
          </a:p>
        </p:txBody>
      </p:sp>
      <p:sp>
        <p:nvSpPr>
          <p:cNvPr id="3" name="Vertical Text Placeholder 2">
            <a:extLst>
              <a:ext uri="{FF2B5EF4-FFF2-40B4-BE49-F238E27FC236}">
                <a16:creationId xmlns:a16="http://schemas.microsoft.com/office/drawing/2014/main" id="{1AE8D196-415C-2676-F695-B2E38951DA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4" name="Date Placeholder 3">
            <a:extLst>
              <a:ext uri="{FF2B5EF4-FFF2-40B4-BE49-F238E27FC236}">
                <a16:creationId xmlns:a16="http://schemas.microsoft.com/office/drawing/2014/main" id="{70D65ABC-15E0-8CCB-3EC3-7F05CBD76519}"/>
              </a:ext>
            </a:extLst>
          </p:cNvPr>
          <p:cNvSpPr>
            <a:spLocks noGrp="1"/>
          </p:cNvSpPr>
          <p:nvPr>
            <p:ph type="dt" sz="half" idx="10"/>
          </p:nvPr>
        </p:nvSpPr>
        <p:spPr/>
        <p:txBody>
          <a:bodyPr/>
          <a:lstStyle/>
          <a:p>
            <a:fld id="{9ADC56DA-44F0-1541-9FB0-D44E15597943}" type="datetimeFigureOut">
              <a:rPr lang="en-RO" smtClean="0"/>
              <a:t>09.12.2025</a:t>
            </a:fld>
            <a:endParaRPr lang="en-RO"/>
          </a:p>
        </p:txBody>
      </p:sp>
      <p:sp>
        <p:nvSpPr>
          <p:cNvPr id="5" name="Footer Placeholder 4">
            <a:extLst>
              <a:ext uri="{FF2B5EF4-FFF2-40B4-BE49-F238E27FC236}">
                <a16:creationId xmlns:a16="http://schemas.microsoft.com/office/drawing/2014/main" id="{E468675F-DDD4-4765-054E-304FE0CCFE68}"/>
              </a:ext>
            </a:extLst>
          </p:cNvPr>
          <p:cNvSpPr>
            <a:spLocks noGrp="1"/>
          </p:cNvSpPr>
          <p:nvPr>
            <p:ph type="ftr" sz="quarter" idx="11"/>
          </p:nvPr>
        </p:nvSpPr>
        <p:spPr/>
        <p:txBody>
          <a:bodyPr/>
          <a:lstStyle/>
          <a:p>
            <a:endParaRPr lang="en-RO"/>
          </a:p>
        </p:txBody>
      </p:sp>
      <p:sp>
        <p:nvSpPr>
          <p:cNvPr id="6" name="Slide Number Placeholder 5">
            <a:extLst>
              <a:ext uri="{FF2B5EF4-FFF2-40B4-BE49-F238E27FC236}">
                <a16:creationId xmlns:a16="http://schemas.microsoft.com/office/drawing/2014/main" id="{86149797-B31C-3A30-C00A-35CDBDD496AE}"/>
              </a:ext>
            </a:extLst>
          </p:cNvPr>
          <p:cNvSpPr>
            <a:spLocks noGrp="1"/>
          </p:cNvSpPr>
          <p:nvPr>
            <p:ph type="sldNum" sz="quarter" idx="12"/>
          </p:nvPr>
        </p:nvSpPr>
        <p:spPr/>
        <p:txBody>
          <a:bodyPr/>
          <a:lstStyle/>
          <a:p>
            <a:fld id="{F4399456-72DB-9F40-A11D-1F792DBCBACE}" type="slidenum">
              <a:rPr lang="en-RO" smtClean="0"/>
              <a:t>‹#›</a:t>
            </a:fld>
            <a:endParaRPr lang="en-RO"/>
          </a:p>
        </p:txBody>
      </p:sp>
    </p:spTree>
    <p:extLst>
      <p:ext uri="{BB962C8B-B14F-4D97-AF65-F5344CB8AC3E}">
        <p14:creationId xmlns:p14="http://schemas.microsoft.com/office/powerpoint/2010/main" val="31035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570388-384B-B975-7511-45AA38B443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RO"/>
          </a:p>
        </p:txBody>
      </p:sp>
      <p:sp>
        <p:nvSpPr>
          <p:cNvPr id="3" name="Text Placeholder 2">
            <a:extLst>
              <a:ext uri="{FF2B5EF4-FFF2-40B4-BE49-F238E27FC236}">
                <a16:creationId xmlns:a16="http://schemas.microsoft.com/office/drawing/2014/main" id="{01C7E291-061C-0EFD-B2DE-35A14BA777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O"/>
          </a:p>
        </p:txBody>
      </p:sp>
      <p:sp>
        <p:nvSpPr>
          <p:cNvPr id="4" name="Date Placeholder 3">
            <a:extLst>
              <a:ext uri="{FF2B5EF4-FFF2-40B4-BE49-F238E27FC236}">
                <a16:creationId xmlns:a16="http://schemas.microsoft.com/office/drawing/2014/main" id="{D4E94CD0-4094-7816-A9F6-6A24C2FBD3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DC56DA-44F0-1541-9FB0-D44E15597943}" type="datetimeFigureOut">
              <a:rPr lang="en-RO" smtClean="0"/>
              <a:t>09.12.2025</a:t>
            </a:fld>
            <a:endParaRPr lang="en-RO"/>
          </a:p>
        </p:txBody>
      </p:sp>
      <p:sp>
        <p:nvSpPr>
          <p:cNvPr id="5" name="Footer Placeholder 4">
            <a:extLst>
              <a:ext uri="{FF2B5EF4-FFF2-40B4-BE49-F238E27FC236}">
                <a16:creationId xmlns:a16="http://schemas.microsoft.com/office/drawing/2014/main" id="{02186060-27FC-13EE-4958-665ED260D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RO"/>
          </a:p>
        </p:txBody>
      </p:sp>
      <p:sp>
        <p:nvSpPr>
          <p:cNvPr id="6" name="Slide Number Placeholder 5">
            <a:extLst>
              <a:ext uri="{FF2B5EF4-FFF2-40B4-BE49-F238E27FC236}">
                <a16:creationId xmlns:a16="http://schemas.microsoft.com/office/drawing/2014/main" id="{3ABAC9D6-34D7-8FBA-B9A6-9790930FB2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399456-72DB-9F40-A11D-1F792DBCBACE}" type="slidenum">
              <a:rPr lang="en-RO" smtClean="0"/>
              <a:t>‹#›</a:t>
            </a:fld>
            <a:endParaRPr lang="en-RO"/>
          </a:p>
        </p:txBody>
      </p:sp>
    </p:spTree>
    <p:extLst>
      <p:ext uri="{BB962C8B-B14F-4D97-AF65-F5344CB8AC3E}">
        <p14:creationId xmlns:p14="http://schemas.microsoft.com/office/powerpoint/2010/main" val="712573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ngle view of circuit shaped like a brain">
            <a:extLst>
              <a:ext uri="{FF2B5EF4-FFF2-40B4-BE49-F238E27FC236}">
                <a16:creationId xmlns:a16="http://schemas.microsoft.com/office/drawing/2014/main" id="{DA66E9A5-8BBB-9F79-88A8-22FAF76248DC}"/>
              </a:ext>
            </a:extLst>
          </p:cNvPr>
          <p:cNvPicPr>
            <a:picLocks noChangeAspect="1"/>
          </p:cNvPicPr>
          <p:nvPr/>
        </p:nvPicPr>
        <p:blipFill>
          <a:blip r:embed="rId2">
            <a:alphaModFix amt="35000"/>
          </a:blip>
          <a:srcRect t="19355"/>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2C57FD45-25BC-E846-8B8F-D9AF262DE0B0}"/>
              </a:ext>
            </a:extLst>
          </p:cNvPr>
          <p:cNvSpPr>
            <a:spLocks noGrp="1"/>
          </p:cNvSpPr>
          <p:nvPr>
            <p:ph type="ctrTitle"/>
          </p:nvPr>
        </p:nvSpPr>
        <p:spPr>
          <a:xfrm>
            <a:off x="838199" y="1065862"/>
            <a:ext cx="6052955" cy="4726276"/>
          </a:xfrm>
        </p:spPr>
        <p:txBody>
          <a:bodyPr vert="horz" lIns="91440" tIns="45720" rIns="91440" bIns="45720" rtlCol="0" anchor="ctr">
            <a:normAutofit/>
          </a:bodyPr>
          <a:lstStyle/>
          <a:p>
            <a:pPr algn="r"/>
            <a:r>
              <a:rPr lang="en-US" sz="8000">
                <a:ln w="22225">
                  <a:solidFill>
                    <a:srgbClr val="FFFFFF"/>
                  </a:solidFill>
                </a:ln>
                <a:noFill/>
              </a:rPr>
              <a:t>Artificial Inteligence in Education</a:t>
            </a:r>
          </a:p>
        </p:txBody>
      </p:sp>
      <p:cxnSp>
        <p:nvCxnSpPr>
          <p:cNvPr id="16" name="Straight Connector 15">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A22D404-E794-3C39-D883-EEE1DB807E36}"/>
              </a:ext>
            </a:extLst>
          </p:cNvPr>
          <p:cNvSpPr>
            <a:spLocks noGrp="1"/>
          </p:cNvSpPr>
          <p:nvPr>
            <p:ph type="subTitle" idx="1"/>
          </p:nvPr>
        </p:nvSpPr>
        <p:spPr>
          <a:xfrm>
            <a:off x="7534645" y="1243283"/>
            <a:ext cx="4270653" cy="4726276"/>
          </a:xfrm>
        </p:spPr>
        <p:txBody>
          <a:bodyPr vert="horz" lIns="91440" tIns="45720" rIns="91440" bIns="45720" rtlCol="0" anchor="ctr">
            <a:normAutofit/>
          </a:bodyPr>
          <a:lstStyle/>
          <a:p>
            <a:pPr indent="-228600" algn="l">
              <a:spcAft>
                <a:spcPts val="600"/>
              </a:spcAft>
              <a:buFont typeface="Arial" panose="020B0604020202020204" pitchFamily="34" charset="0"/>
              <a:buChar char="•"/>
            </a:pPr>
            <a:r>
              <a:rPr lang="en-US" dirty="0">
                <a:solidFill>
                  <a:srgbClr val="FFFFFF"/>
                </a:solidFill>
              </a:rPr>
              <a:t>Dragea Larisa Maria</a:t>
            </a:r>
          </a:p>
          <a:p>
            <a:pPr indent="-228600" algn="l">
              <a:spcAft>
                <a:spcPts val="600"/>
              </a:spcAft>
              <a:buFont typeface="Arial" panose="020B0604020202020204" pitchFamily="34" charset="0"/>
              <a:buChar char="•"/>
            </a:pPr>
            <a:r>
              <a:rPr lang="en-US" dirty="0">
                <a:solidFill>
                  <a:srgbClr val="FFFFFF"/>
                </a:solidFill>
              </a:rPr>
              <a:t>Group 923</a:t>
            </a:r>
          </a:p>
          <a:p>
            <a:pPr indent="-228600" algn="l">
              <a:spcAft>
                <a:spcPts val="600"/>
              </a:spcAft>
              <a:buFont typeface="Arial" panose="020B0604020202020204" pitchFamily="34" charset="0"/>
              <a:buChar char="•"/>
            </a:pPr>
            <a:r>
              <a:rPr lang="en-US" dirty="0">
                <a:solidFill>
                  <a:srgbClr val="FFFFFF"/>
                </a:solidFill>
              </a:rPr>
              <a:t>Computer Science in English</a:t>
            </a:r>
          </a:p>
          <a:p>
            <a:pPr indent="-228600" algn="l">
              <a:buFont typeface="Arial" panose="020B0604020202020204" pitchFamily="34" charset="0"/>
              <a:buChar char="•"/>
            </a:pPr>
            <a:endParaRPr lang="en-US" dirty="0">
              <a:solidFill>
                <a:srgbClr val="FFFFFF"/>
              </a:solidFill>
            </a:endParaRPr>
          </a:p>
        </p:txBody>
      </p:sp>
    </p:spTree>
    <p:extLst>
      <p:ext uri="{BB962C8B-B14F-4D97-AF65-F5344CB8AC3E}">
        <p14:creationId xmlns:p14="http://schemas.microsoft.com/office/powerpoint/2010/main" val="276219357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732C3C3-877F-C1C1-A2B0-03AA89988568}"/>
              </a:ext>
            </a:extLst>
          </p:cNvPr>
          <p:cNvSpPr>
            <a:spLocks noGrp="1"/>
          </p:cNvSpPr>
          <p:nvPr>
            <p:ph type="title"/>
          </p:nvPr>
        </p:nvSpPr>
        <p:spPr>
          <a:xfrm>
            <a:off x="838200" y="365125"/>
            <a:ext cx="5387502" cy="1325563"/>
          </a:xfrm>
        </p:spPr>
        <p:txBody>
          <a:bodyPr>
            <a:normAutofit/>
          </a:bodyPr>
          <a:lstStyle/>
          <a:p>
            <a:r>
              <a:rPr lang="en-US" dirty="0"/>
              <a:t>What is AI?</a:t>
            </a:r>
            <a:endParaRPr lang="en-RO" dirty="0"/>
          </a:p>
        </p:txBody>
      </p:sp>
      <p:sp>
        <p:nvSpPr>
          <p:cNvPr id="3" name="Content Placeholder 2">
            <a:extLst>
              <a:ext uri="{FF2B5EF4-FFF2-40B4-BE49-F238E27FC236}">
                <a16:creationId xmlns:a16="http://schemas.microsoft.com/office/drawing/2014/main" id="{45F61688-5933-FE73-813B-168292D7DC75}"/>
              </a:ext>
            </a:extLst>
          </p:cNvPr>
          <p:cNvSpPr>
            <a:spLocks noGrp="1"/>
          </p:cNvSpPr>
          <p:nvPr>
            <p:ph idx="1"/>
          </p:nvPr>
        </p:nvSpPr>
        <p:spPr>
          <a:xfrm>
            <a:off x="600151" y="1875491"/>
            <a:ext cx="5570706" cy="4351338"/>
          </a:xfrm>
        </p:spPr>
        <p:txBody>
          <a:bodyPr>
            <a:normAutofit/>
          </a:bodyPr>
          <a:lstStyle/>
          <a:p>
            <a:pPr indent="-182880">
              <a:spcAft>
                <a:spcPts val="600"/>
              </a:spcAft>
              <a:buClr>
                <a:schemeClr val="tx1">
                  <a:lumMod val="85000"/>
                  <a:lumOff val="15000"/>
                </a:schemeClr>
              </a:buClr>
              <a:buFont typeface="Garamond" pitchFamily="18" charset="0"/>
              <a:buChar char="◦"/>
            </a:pPr>
            <a:r>
              <a:rPr lang="en-US" sz="2000" dirty="0">
                <a:latin typeface="Arial" panose="020B0604020202020204" pitchFamily="34" charset="0"/>
                <a:cs typeface="Arial" panose="020B0604020202020204" pitchFamily="34" charset="0"/>
              </a:rPr>
              <a:t>          Artificial Intelligence (AI) refers to the ability of computers or machines to perform tasks that normally require human intelligence. These tasks include learning from data, solving problems, recognizing patterns, and understanding language.</a:t>
            </a:r>
          </a:p>
          <a:p>
            <a:pPr indent="-182880">
              <a:spcAft>
                <a:spcPts val="600"/>
              </a:spcAft>
              <a:buClr>
                <a:schemeClr val="tx1">
                  <a:lumMod val="85000"/>
                  <a:lumOff val="15000"/>
                </a:schemeClr>
              </a:buClr>
              <a:buFont typeface="Garamond" pitchFamily="18" charset="0"/>
              <a:buChar char="◦"/>
            </a:pPr>
            <a:r>
              <a:rPr lang="en-US" sz="2000" dirty="0">
                <a:latin typeface="Arial" panose="020B0604020202020204" pitchFamily="34" charset="0"/>
                <a:cs typeface="Arial" panose="020B0604020202020204" pitchFamily="34" charset="0"/>
              </a:rPr>
              <a:t>          In education, AI has become a powerful tool capable of analyzing information quickly, adapting to individual student needs, and supporting teachers in their daily activities. It improves both teaching and learning by offering solutions that were not possible with traditional methods.</a:t>
            </a:r>
          </a:p>
          <a:p>
            <a:endParaRPr lang="en-RO" sz="2000" dirty="0">
              <a:latin typeface="Arial" panose="020B0604020202020204" pitchFamily="34" charset="0"/>
              <a:cs typeface="Arial" panose="020B0604020202020204" pitchFamily="34" charset="0"/>
            </a:endParaRPr>
          </a:p>
        </p:txBody>
      </p:sp>
      <p:pic>
        <p:nvPicPr>
          <p:cNvPr id="4" name="Content Placeholder 4" descr="A handshake of a robot and a human hand&#10;&#10;AI-generated content may be incorrect.">
            <a:extLst>
              <a:ext uri="{FF2B5EF4-FFF2-40B4-BE49-F238E27FC236}">
                <a16:creationId xmlns:a16="http://schemas.microsoft.com/office/drawing/2014/main" id="{33039532-BAA0-2347-4D67-7B422A5B68F8}"/>
              </a:ext>
            </a:extLst>
          </p:cNvPr>
          <p:cNvPicPr>
            <a:picLocks noGrp="1" noChangeAspect="1"/>
          </p:cNvPicPr>
          <p:nvPr>
            <p:ph idx="1"/>
          </p:nvPr>
        </p:nvPicPr>
        <p:blipFill>
          <a:blip r:embed="rId2"/>
          <a:srcRect t="146" r="2" b="2"/>
          <a:stretch>
            <a:fillRect/>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1"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9638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09393-A067-A5F3-9A3B-7606082430FC}"/>
              </a:ext>
            </a:extLst>
          </p:cNvPr>
          <p:cNvSpPr>
            <a:spLocks noGrp="1"/>
          </p:cNvSpPr>
          <p:nvPr>
            <p:ph type="title"/>
          </p:nvPr>
        </p:nvSpPr>
        <p:spPr>
          <a:xfrm>
            <a:off x="1255059" y="5469340"/>
            <a:ext cx="9681882" cy="739880"/>
          </a:xfrm>
        </p:spPr>
        <p:txBody>
          <a:bodyPr vert="horz" lIns="91440" tIns="45720" rIns="91440" bIns="45720" rtlCol="0" anchor="b">
            <a:normAutofit/>
          </a:bodyPr>
          <a:lstStyle/>
          <a:p>
            <a:pPr algn="ctr"/>
            <a:r>
              <a:rPr lang="en-US" sz="3600" dirty="0">
                <a:solidFill>
                  <a:schemeClr val="accent5"/>
                </a:solidFill>
              </a:rPr>
              <a:t>Why AI Is Useful in Education?</a:t>
            </a:r>
          </a:p>
        </p:txBody>
      </p:sp>
      <p:pic>
        <p:nvPicPr>
          <p:cNvPr id="7" name="Picture 6" descr="A group of people looking at a computer screen&#10;&#10;AI-generated content may be incorrect.">
            <a:extLst>
              <a:ext uri="{FF2B5EF4-FFF2-40B4-BE49-F238E27FC236}">
                <a16:creationId xmlns:a16="http://schemas.microsoft.com/office/drawing/2014/main" id="{31B9E5F1-1538-2D89-72EE-334593196B19}"/>
              </a:ext>
            </a:extLst>
          </p:cNvPr>
          <p:cNvPicPr>
            <a:picLocks noChangeAspect="1"/>
          </p:cNvPicPr>
          <p:nvPr/>
        </p:nvPicPr>
        <p:blipFill>
          <a:blip r:embed="rId2"/>
          <a:srcRect t="32031" b="19687"/>
          <a:stretch>
            <a:fillRect/>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2031814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3981C0-5666-AA2E-F3A3-37630E8DE2A1}"/>
              </a:ext>
            </a:extLst>
          </p:cNvPr>
          <p:cNvSpPr>
            <a:spLocks noGrp="1"/>
          </p:cNvSpPr>
          <p:nvPr>
            <p:ph type="title"/>
          </p:nvPr>
        </p:nvSpPr>
        <p:spPr>
          <a:xfrm>
            <a:off x="5936961" y="-265485"/>
            <a:ext cx="6437492" cy="2052522"/>
          </a:xfrm>
        </p:spPr>
        <p:txBody>
          <a:bodyPr anchor="b">
            <a:normAutofit/>
          </a:bodyPr>
          <a:lstStyle/>
          <a:p>
            <a:r>
              <a:rPr lang="en-US" sz="5600" dirty="0"/>
              <a:t>AI Helping Teachers</a:t>
            </a:r>
            <a:endParaRPr lang="en-RO" sz="5600" dirty="0"/>
          </a:p>
        </p:txBody>
      </p:sp>
      <p:sp>
        <p:nvSpPr>
          <p:cNvPr id="34" name="Oval 33">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toon of a person sitting at a desk with a computer&#10;&#10;AI-generated content may be incorrect.">
            <a:extLst>
              <a:ext uri="{FF2B5EF4-FFF2-40B4-BE49-F238E27FC236}">
                <a16:creationId xmlns:a16="http://schemas.microsoft.com/office/drawing/2014/main" id="{599A76A5-D1FF-B336-6BFC-07C8F8180418}"/>
              </a:ext>
            </a:extLst>
          </p:cNvPr>
          <p:cNvPicPr>
            <a:picLocks noChangeAspect="1"/>
          </p:cNvPicPr>
          <p:nvPr/>
        </p:nvPicPr>
        <p:blipFill>
          <a:blip r:embed="rId2"/>
          <a:srcRect r="-3" b="-3"/>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6"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38"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7" name="Rectangle 2">
            <a:extLst>
              <a:ext uri="{FF2B5EF4-FFF2-40B4-BE49-F238E27FC236}">
                <a16:creationId xmlns:a16="http://schemas.microsoft.com/office/drawing/2014/main" id="{AEAF8786-D2C5-0E76-D424-64985558B237}"/>
              </a:ext>
            </a:extLst>
          </p:cNvPr>
          <p:cNvSpPr>
            <a:spLocks noGrp="1" noChangeArrowheads="1"/>
          </p:cNvSpPr>
          <p:nvPr>
            <p:ph idx="1"/>
          </p:nvPr>
        </p:nvSpPr>
        <p:spPr bwMode="auto">
          <a:xfrm>
            <a:off x="6770547" y="2052522"/>
            <a:ext cx="4533607" cy="609722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eaLnBrk="0" fontAlgn="base" hangingPunct="0">
              <a:spcBef>
                <a:spcPct val="0"/>
              </a:spcBef>
              <a:spcAft>
                <a:spcPts val="600"/>
              </a:spcAft>
            </a:pPr>
            <a:r>
              <a:rPr lang="en-RO" altLang="en-RO" sz="2000" dirty="0">
                <a:solidFill>
                  <a:schemeClr val="tx1">
                    <a:alpha val="80000"/>
                  </a:schemeClr>
                </a:solidFill>
                <a:latin typeface="Arial" panose="020B0604020202020204" pitchFamily="34" charset="0"/>
                <a:cs typeface="Arial" panose="020B0604020202020204" pitchFamily="34" charset="0"/>
              </a:rPr>
              <a:t>	</a:t>
            </a:r>
            <a:r>
              <a:rPr kumimoji="0" lang="en-RO" altLang="en-RO" sz="2000" b="0" i="0" u="none" strike="noStrike" cap="none" normalizeH="0" baseline="0" dirty="0">
                <a:ln>
                  <a:noFill/>
                </a:ln>
                <a:solidFill>
                  <a:schemeClr val="tx1">
                    <a:alpha val="80000"/>
                  </a:schemeClr>
                </a:solidFill>
                <a:effectLst/>
                <a:latin typeface="Arial" panose="020B0604020202020204" pitchFamily="34" charset="0"/>
                <a:cs typeface="Arial" panose="020B0604020202020204" pitchFamily="34" charset="0"/>
              </a:rPr>
              <a:t>AI is extremely helpful for teachers because it takes over many repetitive tasks that normally require hours of work. </a:t>
            </a:r>
            <a:r>
              <a:rPr lang="en-RO" altLang="en-RO" sz="2000" dirty="0">
                <a:solidFill>
                  <a:schemeClr val="tx1">
                    <a:alpha val="80000"/>
                  </a:schemeClr>
                </a:solidFill>
                <a:latin typeface="Arial" panose="020B0604020202020204" pitchFamily="34" charset="0"/>
                <a:cs typeface="Arial" panose="020B0604020202020204" pitchFamily="34" charset="0"/>
              </a:rPr>
              <a:t>T</a:t>
            </a:r>
            <a:r>
              <a:rPr kumimoji="0" lang="en-RO" altLang="en-RO" sz="2000" b="0" i="0" u="none" strike="noStrike" cap="none" normalizeH="0" baseline="0" dirty="0">
                <a:ln>
                  <a:noFill/>
                </a:ln>
                <a:solidFill>
                  <a:schemeClr val="tx1">
                    <a:alpha val="80000"/>
                  </a:schemeClr>
                </a:solidFill>
                <a:effectLst/>
                <a:latin typeface="Arial" panose="020B0604020202020204" pitchFamily="34" charset="0"/>
                <a:cs typeface="Arial" panose="020B0604020202020204" pitchFamily="34" charset="0"/>
              </a:rPr>
              <a:t>eachers often spend a lot of time correcting assignments, preparing materials, and organizing schedules, but AI tools can automate processes such as grading quizzes, sorting homework, and tracking attendance. </a:t>
            </a:r>
          </a:p>
          <a:p>
            <a:pPr eaLnBrk="0" fontAlgn="base" hangingPunct="0">
              <a:spcBef>
                <a:spcPct val="0"/>
              </a:spcBef>
              <a:spcAft>
                <a:spcPts val="600"/>
              </a:spcAft>
            </a:pPr>
            <a:r>
              <a:rPr lang="en-RO" altLang="en-RO" sz="2000" dirty="0">
                <a:solidFill>
                  <a:schemeClr val="tx1">
                    <a:alpha val="80000"/>
                  </a:schemeClr>
                </a:solidFill>
                <a:latin typeface="Arial" panose="020B0604020202020204" pitchFamily="34" charset="0"/>
                <a:cs typeface="Arial" panose="020B0604020202020204" pitchFamily="34" charset="0"/>
              </a:rPr>
              <a:t>	</a:t>
            </a:r>
            <a:r>
              <a:rPr kumimoji="0" lang="en-RO" altLang="en-RO" sz="2000" b="0" i="0" u="none" strike="noStrike" cap="none" normalizeH="0" baseline="0" dirty="0">
                <a:ln>
                  <a:noFill/>
                </a:ln>
                <a:solidFill>
                  <a:schemeClr val="tx1">
                    <a:alpha val="80000"/>
                  </a:schemeClr>
                </a:solidFill>
                <a:effectLst/>
                <a:latin typeface="Arial" panose="020B0604020202020204" pitchFamily="34" charset="0"/>
                <a:cs typeface="Arial" panose="020B0604020202020204" pitchFamily="34" charset="0"/>
              </a:rPr>
              <a:t>This gives teachers more time to focus on what truly matters—teaching, guiding, and supporting their students. </a:t>
            </a:r>
          </a:p>
        </p:txBody>
      </p:sp>
      <p:sp>
        <p:nvSpPr>
          <p:cNvPr id="40"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42"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310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0" name="Arc 5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7F9144-8986-64DB-CD1D-8CC5146AA532}"/>
              </a:ext>
            </a:extLst>
          </p:cNvPr>
          <p:cNvSpPr>
            <a:spLocks noGrp="1"/>
          </p:cNvSpPr>
          <p:nvPr>
            <p:ph type="title"/>
          </p:nvPr>
        </p:nvSpPr>
        <p:spPr>
          <a:xfrm>
            <a:off x="2136824" y="191480"/>
            <a:ext cx="5458838" cy="1325563"/>
          </a:xfrm>
        </p:spPr>
        <p:txBody>
          <a:bodyPr>
            <a:normAutofit/>
          </a:bodyPr>
          <a:lstStyle/>
          <a:p>
            <a:r>
              <a:rPr lang="en-US" dirty="0"/>
              <a:t>AI and Accessibility</a:t>
            </a:r>
            <a:endParaRPr lang="en-RO" dirty="0"/>
          </a:p>
        </p:txBody>
      </p:sp>
      <p:sp>
        <p:nvSpPr>
          <p:cNvPr id="62" name="Freeform: Shape 6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Picture 10" descr="A group of icons with text&#10;&#10;AI-generated content may be incorrect.">
            <a:extLst>
              <a:ext uri="{FF2B5EF4-FFF2-40B4-BE49-F238E27FC236}">
                <a16:creationId xmlns:a16="http://schemas.microsoft.com/office/drawing/2014/main" id="{8753F94B-C69E-2D59-009F-A725AFC602F9}"/>
              </a:ext>
            </a:extLst>
          </p:cNvPr>
          <p:cNvPicPr>
            <a:picLocks noChangeAspect="1"/>
          </p:cNvPicPr>
          <p:nvPr/>
        </p:nvPicPr>
        <p:blipFill>
          <a:blip r:embed="rId2"/>
          <a:stretch>
            <a:fillRect/>
          </a:stretch>
        </p:blipFill>
        <p:spPr>
          <a:xfrm>
            <a:off x="362453" y="2031000"/>
            <a:ext cx="5777379" cy="288868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scene3d>
            <a:camera prst="perspectiveFront" fov="5400000"/>
            <a:lightRig rig="threePt" dir="t">
              <a:rot lat="0" lon="0" rev="19200000"/>
            </a:lightRig>
          </a:scene3d>
          <a:sp3d extrusionH="25400">
            <a:bevelT w="304800" h="152400" prst="hardEdge"/>
            <a:extrusionClr>
              <a:srgbClr val="FFFFFF"/>
            </a:extrusionClr>
          </a:sp3d>
        </p:spPr>
      </p:pic>
      <p:sp>
        <p:nvSpPr>
          <p:cNvPr id="4" name="Rectangle 2">
            <a:extLst>
              <a:ext uri="{FF2B5EF4-FFF2-40B4-BE49-F238E27FC236}">
                <a16:creationId xmlns:a16="http://schemas.microsoft.com/office/drawing/2014/main" id="{8D266C46-95E3-B895-C007-8BDB5F5101CC}"/>
              </a:ext>
            </a:extLst>
          </p:cNvPr>
          <p:cNvSpPr>
            <a:spLocks noGrp="1" noChangeArrowheads="1"/>
          </p:cNvSpPr>
          <p:nvPr>
            <p:ph idx="1"/>
          </p:nvPr>
        </p:nvSpPr>
        <p:spPr bwMode="auto">
          <a:xfrm>
            <a:off x="6502285" y="2062462"/>
            <a:ext cx="518171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RO" altLang="en-RO" sz="2000" b="0" i="0" u="none" strike="noStrike" cap="none" normalizeH="0" baseline="0" dirty="0">
                <a:ln>
                  <a:noFill/>
                </a:ln>
                <a:solidFill>
                  <a:srgbClr val="000000"/>
                </a:solidFill>
                <a:effectLst/>
                <a:latin typeface="Arial" panose="020B0604020202020204" pitchFamily="34" charset="0"/>
              </a:rPr>
              <a:t> 	AI makes education more accessible for students with learning difficulties or disabilities:	</a:t>
            </a:r>
          </a:p>
          <a:p>
            <a:pPr marL="457200" lvl="1" indent="0" eaLnBrk="0" fontAlgn="base" hangingPunct="0">
              <a:lnSpc>
                <a:spcPct val="100000"/>
              </a:lnSpc>
              <a:spcBef>
                <a:spcPct val="0"/>
              </a:spcBef>
              <a:spcAft>
                <a:spcPct val="0"/>
              </a:spcAft>
              <a:buFontTx/>
              <a:buChar char="•"/>
            </a:pPr>
            <a:r>
              <a:rPr lang="en-RO" altLang="en-RO" sz="2000" dirty="0">
                <a:solidFill>
                  <a:srgbClr val="000000"/>
                </a:solidFill>
                <a:latin typeface="Arial" panose="020B0604020202020204" pitchFamily="34" charset="0"/>
              </a:rPr>
              <a:t> a</a:t>
            </a:r>
            <a:r>
              <a:rPr kumimoji="0" lang="en-RO" altLang="en-RO" sz="2000" b="0" i="0" u="none" strike="noStrike" cap="none" normalizeH="0" baseline="0" dirty="0">
                <a:ln>
                  <a:noFill/>
                </a:ln>
                <a:solidFill>
                  <a:srgbClr val="000000"/>
                </a:solidFill>
                <a:effectLst/>
                <a:latin typeface="Arial" panose="020B0604020202020204" pitchFamily="34" charset="0"/>
              </a:rPr>
              <a:t>dapts learning materials to individual needs.</a:t>
            </a:r>
          </a:p>
          <a:p>
            <a:pPr marL="457200" lvl="1" indent="0" eaLnBrk="0" fontAlgn="base" hangingPunct="0">
              <a:lnSpc>
                <a:spcPct val="100000"/>
              </a:lnSpc>
              <a:spcBef>
                <a:spcPct val="0"/>
              </a:spcBef>
              <a:spcAft>
                <a:spcPct val="0"/>
              </a:spcAft>
              <a:buFontTx/>
              <a:buChar char="•"/>
            </a:pPr>
            <a:r>
              <a:rPr lang="en-RO" altLang="en-RO" sz="2000" dirty="0">
                <a:solidFill>
                  <a:srgbClr val="000000"/>
                </a:solidFill>
                <a:latin typeface="Arial" panose="020B0604020202020204" pitchFamily="34" charset="0"/>
              </a:rPr>
              <a:t> o</a:t>
            </a:r>
            <a:r>
              <a:rPr kumimoji="0" lang="en-RO" altLang="en-RO" sz="2000" b="0" i="0" u="none" strike="noStrike" cap="none" normalizeH="0" baseline="0" dirty="0">
                <a:ln>
                  <a:noFill/>
                </a:ln>
                <a:solidFill>
                  <a:srgbClr val="000000"/>
                </a:solidFill>
                <a:effectLst/>
                <a:latin typeface="Arial" panose="020B0604020202020204" pitchFamily="34" charset="0"/>
              </a:rPr>
              <a:t>ffers alternative ways to access information.</a:t>
            </a:r>
          </a:p>
          <a:p>
            <a:pPr marL="457200" lvl="1" indent="0" eaLnBrk="0" fontAlgn="base" hangingPunct="0">
              <a:lnSpc>
                <a:spcPct val="100000"/>
              </a:lnSpc>
              <a:spcBef>
                <a:spcPct val="0"/>
              </a:spcBef>
              <a:spcAft>
                <a:spcPct val="0"/>
              </a:spcAft>
              <a:buFontTx/>
              <a:buChar char="•"/>
            </a:pPr>
            <a:r>
              <a:rPr lang="en-RO" altLang="en-RO" sz="2000" dirty="0">
                <a:solidFill>
                  <a:srgbClr val="000000"/>
                </a:solidFill>
                <a:latin typeface="Arial" panose="020B0604020202020204" pitchFamily="34" charset="0"/>
              </a:rPr>
              <a:t> p</a:t>
            </a:r>
            <a:r>
              <a:rPr kumimoji="0" lang="en-RO" altLang="en-RO" sz="2000" b="0" i="0" u="none" strike="noStrike" cap="none" normalizeH="0" baseline="0" dirty="0">
                <a:ln>
                  <a:noFill/>
                </a:ln>
                <a:solidFill>
                  <a:srgbClr val="000000"/>
                </a:solidFill>
                <a:effectLst/>
                <a:latin typeface="Arial" panose="020B0604020202020204" pitchFamily="34" charset="0"/>
              </a:rPr>
              <a:t>rovides personalized support.</a:t>
            </a:r>
          </a:p>
          <a:p>
            <a:pPr marL="457200" lvl="1" indent="0" eaLnBrk="0" fontAlgn="base" hangingPunct="0">
              <a:lnSpc>
                <a:spcPct val="100000"/>
              </a:lnSpc>
              <a:spcBef>
                <a:spcPct val="0"/>
              </a:spcBef>
              <a:spcAft>
                <a:spcPct val="0"/>
              </a:spcAft>
              <a:buFontTx/>
              <a:buChar char="•"/>
            </a:pPr>
            <a:r>
              <a:rPr lang="en-RO" altLang="en-RO" sz="2000" dirty="0">
                <a:solidFill>
                  <a:srgbClr val="000000"/>
                </a:solidFill>
                <a:latin typeface="Arial" panose="020B0604020202020204" pitchFamily="34" charset="0"/>
              </a:rPr>
              <a:t> s</a:t>
            </a:r>
            <a:r>
              <a:rPr kumimoji="0" lang="en-RO" altLang="en-RO" sz="2000" b="0" i="0" u="none" strike="noStrike" cap="none" normalizeH="0" baseline="0" dirty="0">
                <a:ln>
                  <a:noFill/>
                </a:ln>
                <a:solidFill>
                  <a:srgbClr val="000000"/>
                </a:solidFill>
                <a:effectLst/>
                <a:latin typeface="Arial" panose="020B0604020202020204" pitchFamily="34" charset="0"/>
              </a:rPr>
              <a:t>peech-to-text helps students who struggle with writing.</a:t>
            </a:r>
          </a:p>
          <a:p>
            <a:pPr marL="457200" lvl="1" indent="0" eaLnBrk="0" fontAlgn="base" hangingPunct="0">
              <a:lnSpc>
                <a:spcPct val="100000"/>
              </a:lnSpc>
              <a:spcBef>
                <a:spcPct val="0"/>
              </a:spcBef>
              <a:spcAft>
                <a:spcPct val="0"/>
              </a:spcAft>
              <a:buFontTx/>
              <a:buChar char="•"/>
            </a:pPr>
            <a:r>
              <a:rPr lang="en-RO" altLang="en-RO" sz="2000" dirty="0">
                <a:solidFill>
                  <a:srgbClr val="000000"/>
                </a:solidFill>
                <a:latin typeface="Arial" panose="020B0604020202020204" pitchFamily="34" charset="0"/>
              </a:rPr>
              <a:t> t</a:t>
            </a:r>
            <a:r>
              <a:rPr kumimoji="0" lang="en-RO" altLang="en-RO" sz="2000" b="0" i="0" u="none" strike="noStrike" cap="none" normalizeH="0" baseline="0" dirty="0">
                <a:ln>
                  <a:noFill/>
                </a:ln>
                <a:solidFill>
                  <a:srgbClr val="000000"/>
                </a:solidFill>
                <a:effectLst/>
                <a:latin typeface="Arial" panose="020B0604020202020204" pitchFamily="34" charset="0"/>
              </a:rPr>
              <a:t>ext-to-speech supports students with dyslexia or visual impairments.</a:t>
            </a:r>
          </a:p>
        </p:txBody>
      </p:sp>
    </p:spTree>
    <p:extLst>
      <p:ext uri="{BB962C8B-B14F-4D97-AF65-F5344CB8AC3E}">
        <p14:creationId xmlns:p14="http://schemas.microsoft.com/office/powerpoint/2010/main" val="80240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0B8DCBA-FEED-46EF-A140-35B904015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B3E32A-7BBE-D267-EF6E-C318BCA29653}"/>
              </a:ext>
            </a:extLst>
          </p:cNvPr>
          <p:cNvSpPr>
            <a:spLocks noGrp="1"/>
          </p:cNvSpPr>
          <p:nvPr>
            <p:ph type="title"/>
          </p:nvPr>
        </p:nvSpPr>
        <p:spPr>
          <a:xfrm>
            <a:off x="1043631" y="873940"/>
            <a:ext cx="4928291" cy="1035781"/>
          </a:xfrm>
        </p:spPr>
        <p:txBody>
          <a:bodyPr anchor="ctr">
            <a:normAutofit/>
          </a:bodyPr>
          <a:lstStyle/>
          <a:p>
            <a:r>
              <a:rPr lang="en-US" sz="3600"/>
              <a:t>AI in Language Learning</a:t>
            </a:r>
            <a:endParaRPr lang="en-RO" sz="3600"/>
          </a:p>
        </p:txBody>
      </p:sp>
      <p:sp>
        <p:nvSpPr>
          <p:cNvPr id="3" name="Content Placeholder 2">
            <a:extLst>
              <a:ext uri="{FF2B5EF4-FFF2-40B4-BE49-F238E27FC236}">
                <a16:creationId xmlns:a16="http://schemas.microsoft.com/office/drawing/2014/main" id="{8CF97F8F-5B09-2864-0F63-2563350F0624}"/>
              </a:ext>
            </a:extLst>
          </p:cNvPr>
          <p:cNvSpPr>
            <a:spLocks noGrp="1"/>
          </p:cNvSpPr>
          <p:nvPr>
            <p:ph idx="1"/>
          </p:nvPr>
        </p:nvSpPr>
        <p:spPr>
          <a:xfrm>
            <a:off x="731525" y="2373391"/>
            <a:ext cx="5500988" cy="3828453"/>
          </a:xfrm>
        </p:spPr>
        <p:txBody>
          <a:bodyPr anchor="ctr">
            <a:noAutofit/>
          </a:bodyPr>
          <a:lstStyle/>
          <a:p>
            <a:r>
              <a:rPr lang="en-US" sz="2000" dirty="0"/>
              <a:t>                AI has significantly changed the way students learn new languages by making the process more personalized, flexible, and interactive. </a:t>
            </a:r>
          </a:p>
          <a:p>
            <a:r>
              <a:rPr lang="en-US" sz="2000" dirty="0"/>
              <a:t>                 Through advanced algorithms, AI can understand how each learner progresses, identify difficulties, and adapt language lessons to individual needs. This creates a learning experience that feels more natural.</a:t>
            </a:r>
          </a:p>
          <a:p>
            <a:r>
              <a:rPr lang="en-US" sz="2000" dirty="0"/>
              <a:t>                  With AI, students can practice whenever they want and receive immediate guidance, which helps them build confidence and improve their communication skills more effectively than traditional methods alone.</a:t>
            </a:r>
            <a:endParaRPr lang="en-RO" sz="2000" dirty="0"/>
          </a:p>
        </p:txBody>
      </p:sp>
      <p:pic>
        <p:nvPicPr>
          <p:cNvPr id="5" name="Picture 4" descr="A cartoon of a person sitting at a desk with a computer and a globe&#10;&#10;AI-generated content may be incorrect.">
            <a:extLst>
              <a:ext uri="{FF2B5EF4-FFF2-40B4-BE49-F238E27FC236}">
                <a16:creationId xmlns:a16="http://schemas.microsoft.com/office/drawing/2014/main" id="{FCE43D4A-836D-B2F5-09AF-066615E84E77}"/>
              </a:ext>
            </a:extLst>
          </p:cNvPr>
          <p:cNvPicPr>
            <a:picLocks noChangeAspect="1"/>
          </p:cNvPicPr>
          <p:nvPr/>
        </p:nvPicPr>
        <p:blipFill>
          <a:blip r:embed="rId2"/>
          <a:srcRect l="12025" r="6356" b="3"/>
          <a:stretch>
            <a:fillRect/>
          </a:stretch>
        </p:blipFill>
        <p:spPr>
          <a:xfrm>
            <a:off x="6788383" y="613147"/>
            <a:ext cx="4565417" cy="5593443"/>
          </a:xfrm>
          <a:prstGeom prst="rect">
            <a:avLst/>
          </a:prstGeom>
        </p:spPr>
      </p:pic>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237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5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a:extLst>
              <a:ext uri="{FF2B5EF4-FFF2-40B4-BE49-F238E27FC236}">
                <a16:creationId xmlns:a16="http://schemas.microsoft.com/office/drawing/2014/main" id="{245A394D-5E93-8BDA-94C4-CFA8749BF735}"/>
              </a:ext>
            </a:extLst>
          </p:cNvPr>
          <p:cNvSpPr>
            <a:spLocks noGrp="1" noChangeArrowheads="1"/>
          </p:cNvSpPr>
          <p:nvPr>
            <p:ph type="title"/>
          </p:nvPr>
        </p:nvSpPr>
        <p:spPr bwMode="auto">
          <a:xfrm>
            <a:off x="6096000" y="-352713"/>
            <a:ext cx="4926490" cy="18448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b"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r>
              <a:rPr kumimoji="0" lang="en-RO" altLang="en-RO" sz="3500" b="0" i="0" u="none" strike="noStrike" cap="none" normalizeH="0" baseline="0" dirty="0">
                <a:ln>
                  <a:noFill/>
                </a:ln>
                <a:effectLst/>
                <a:latin typeface="-webkit-standard"/>
              </a:rPr>
              <a:t>Additional Examples in 	Language Learning </a:t>
            </a:r>
            <a:endParaRPr kumimoji="0" lang="en-RO" altLang="en-RO" sz="3500" b="0" i="0" u="none" strike="noStrike" cap="none" normalizeH="0" baseline="0" dirty="0">
              <a:ln>
                <a:noFill/>
              </a:ln>
              <a:effectLst/>
              <a:latin typeface="Arial" panose="020B0604020202020204" pitchFamily="34" charset="0"/>
            </a:endParaRPr>
          </a:p>
        </p:txBody>
      </p:sp>
      <p:sp>
        <p:nvSpPr>
          <p:cNvPr id="21" name="Freeform: Shape 20">
            <a:extLst>
              <a:ext uri="{FF2B5EF4-FFF2-40B4-BE49-F238E27FC236}">
                <a16:creationId xmlns:a16="http://schemas.microsoft.com/office/drawing/2014/main" id="{A88E8F50-3CA9-49A3-A143-F1B0905EC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599173" cy="3640433"/>
          </a:xfrm>
          <a:custGeom>
            <a:avLst/>
            <a:gdLst>
              <a:gd name="connsiteX0" fmla="*/ 0 w 3599173"/>
              <a:gd name="connsiteY0" fmla="*/ 0 h 3640433"/>
              <a:gd name="connsiteX1" fmla="*/ 3008863 w 3599173"/>
              <a:gd name="connsiteY1" fmla="*/ 0 h 3640433"/>
              <a:gd name="connsiteX2" fmla="*/ 3038375 w 3599173"/>
              <a:gd name="connsiteY2" fmla="*/ 30225 h 3640433"/>
              <a:gd name="connsiteX3" fmla="*/ 3599173 w 3599173"/>
              <a:gd name="connsiteY3" fmla="*/ 1481705 h 3640433"/>
              <a:gd name="connsiteX4" fmla="*/ 1440445 w 3599173"/>
              <a:gd name="connsiteY4" fmla="*/ 3640433 h 3640433"/>
              <a:gd name="connsiteX5" fmla="*/ 107674 w 3599173"/>
              <a:gd name="connsiteY5" fmla="*/ 3180007 h 3640433"/>
              <a:gd name="connsiteX6" fmla="*/ 0 w 3599173"/>
              <a:gd name="connsiteY6" fmla="*/ 3088966 h 36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9173" h="3640433">
                <a:moveTo>
                  <a:pt x="0" y="0"/>
                </a:moveTo>
                <a:lnTo>
                  <a:pt x="3008863" y="0"/>
                </a:lnTo>
                <a:lnTo>
                  <a:pt x="3038375" y="30225"/>
                </a:lnTo>
                <a:cubicBezTo>
                  <a:pt x="3386809" y="413587"/>
                  <a:pt x="3599173" y="922846"/>
                  <a:pt x="3599173" y="1481705"/>
                </a:cubicBezTo>
                <a:cubicBezTo>
                  <a:pt x="3599173" y="2673938"/>
                  <a:pt x="2632678" y="3640433"/>
                  <a:pt x="1440445" y="3640433"/>
                </a:cubicBezTo>
                <a:cubicBezTo>
                  <a:pt x="937472" y="3640433"/>
                  <a:pt x="474675" y="3468418"/>
                  <a:pt x="107674" y="3180007"/>
                </a:cubicBezTo>
                <a:lnTo>
                  <a:pt x="0" y="3088966"/>
                </a:ln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2067" y="294578"/>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2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5567" y="824657"/>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sp>
        <p:nvSpPr>
          <p:cNvPr id="27" name="Oval 26">
            <a:extLst>
              <a:ext uri="{FF2B5EF4-FFF2-40B4-BE49-F238E27FC236}">
                <a16:creationId xmlns:a16="http://schemas.microsoft.com/office/drawing/2014/main" id="{85D33C90-E0E9-4BCC-847B-53431DF7C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864" y="1143202"/>
            <a:ext cx="2404893" cy="2404893"/>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31715" y="3609849"/>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pic>
        <p:nvPicPr>
          <p:cNvPr id="6" name="Picture 5" descr="A robot and a person talking&#10;&#10;AI-generated content may be incorrect.">
            <a:extLst>
              <a:ext uri="{FF2B5EF4-FFF2-40B4-BE49-F238E27FC236}">
                <a16:creationId xmlns:a16="http://schemas.microsoft.com/office/drawing/2014/main" id="{4C41DDBC-FD9C-528E-1AC4-C8C73CE18307}"/>
              </a:ext>
            </a:extLst>
          </p:cNvPr>
          <p:cNvPicPr>
            <a:picLocks noChangeAspect="1"/>
          </p:cNvPicPr>
          <p:nvPr/>
        </p:nvPicPr>
        <p:blipFill>
          <a:blip r:embed="rId2"/>
          <a:srcRect l="23866" r="16932" b="2"/>
          <a:stretch>
            <a:fillRect/>
          </a:stretch>
        </p:blipFill>
        <p:spPr>
          <a:xfrm>
            <a:off x="20" y="10"/>
            <a:ext cx="3831514" cy="3640423"/>
          </a:xfrm>
          <a:custGeom>
            <a:avLst/>
            <a:gdLst/>
            <a:ahLst/>
            <a:cxnLst/>
            <a:rect l="l" t="t" r="r" b="b"/>
            <a:pathLst>
              <a:path w="3831534" h="3640433">
                <a:moveTo>
                  <a:pt x="104390" y="0"/>
                </a:moveTo>
                <a:lnTo>
                  <a:pt x="3241222" y="0"/>
                </a:lnTo>
                <a:lnTo>
                  <a:pt x="3270735" y="30226"/>
                </a:lnTo>
                <a:cubicBezTo>
                  <a:pt x="3619169" y="413588"/>
                  <a:pt x="3831534" y="922847"/>
                  <a:pt x="3831534" y="1481705"/>
                </a:cubicBezTo>
                <a:cubicBezTo>
                  <a:pt x="3831534" y="2673937"/>
                  <a:pt x="2865038" y="3640433"/>
                  <a:pt x="1672806" y="3640433"/>
                </a:cubicBezTo>
                <a:cubicBezTo>
                  <a:pt x="1002176" y="3640433"/>
                  <a:pt x="402970" y="3334628"/>
                  <a:pt x="7027" y="2854856"/>
                </a:cubicBezTo>
                <a:lnTo>
                  <a:pt x="0" y="2845459"/>
                </a:lnTo>
                <a:lnTo>
                  <a:pt x="0" y="120411"/>
                </a:lnTo>
                <a:lnTo>
                  <a:pt x="74877" y="30226"/>
                </a:lnTo>
                <a:close/>
              </a:path>
            </a:pathLst>
          </a:custGeom>
        </p:spPr>
      </p:pic>
      <p:pic>
        <p:nvPicPr>
          <p:cNvPr id="8" name="Picture 7" descr="A green circle with a white letter in it&#10;&#10;AI-generated content may be incorrect.">
            <a:extLst>
              <a:ext uri="{FF2B5EF4-FFF2-40B4-BE49-F238E27FC236}">
                <a16:creationId xmlns:a16="http://schemas.microsoft.com/office/drawing/2014/main" id="{4321404F-D690-2EF0-B45B-E8F212E5AB75}"/>
              </a:ext>
            </a:extLst>
          </p:cNvPr>
          <p:cNvPicPr>
            <a:picLocks noChangeAspect="1"/>
          </p:cNvPicPr>
          <p:nvPr/>
        </p:nvPicPr>
        <p:blipFill>
          <a:blip r:embed="rId3"/>
          <a:srcRect r="9" b="9"/>
          <a:stretch>
            <a:fillRect/>
          </a:stretch>
        </p:blipFill>
        <p:spPr>
          <a:xfrm>
            <a:off x="4175869" y="1163333"/>
            <a:ext cx="2367798" cy="2367798"/>
          </a:xfrm>
          <a:custGeom>
            <a:avLst/>
            <a:gdLst/>
            <a:ahLst/>
            <a:cxnLst/>
            <a:rect l="l" t="t" r="r" b="b"/>
            <a:pathLst>
              <a:path w="2367798" h="2367798">
                <a:moveTo>
                  <a:pt x="1183899" y="0"/>
                </a:moveTo>
                <a:cubicBezTo>
                  <a:pt x="1837748" y="0"/>
                  <a:pt x="2367798" y="530050"/>
                  <a:pt x="2367798" y="1183899"/>
                </a:cubicBezTo>
                <a:cubicBezTo>
                  <a:pt x="2367798" y="1837748"/>
                  <a:pt x="1837748" y="2367798"/>
                  <a:pt x="1183899" y="2367798"/>
                </a:cubicBezTo>
                <a:cubicBezTo>
                  <a:pt x="530050" y="2367798"/>
                  <a:pt x="0" y="1837748"/>
                  <a:pt x="0" y="1183899"/>
                </a:cubicBezTo>
                <a:cubicBezTo>
                  <a:pt x="0" y="530050"/>
                  <a:pt x="530050" y="0"/>
                  <a:pt x="1183899" y="0"/>
                </a:cubicBezTo>
                <a:close/>
              </a:path>
            </a:pathLst>
          </a:custGeom>
        </p:spPr>
      </p:pic>
      <p:sp>
        <p:nvSpPr>
          <p:cNvPr id="31" name="Freeform: Shape 30">
            <a:extLst>
              <a:ext uri="{FF2B5EF4-FFF2-40B4-BE49-F238E27FC236}">
                <a16:creationId xmlns:a16="http://schemas.microsoft.com/office/drawing/2014/main" id="{D0F14822-B1F1-4730-A131-C3416A790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312" y="3942512"/>
            <a:ext cx="3238728" cy="2915488"/>
          </a:xfrm>
          <a:custGeom>
            <a:avLst/>
            <a:gdLst>
              <a:gd name="connsiteX0" fmla="*/ 1619364 w 3238728"/>
              <a:gd name="connsiteY0" fmla="*/ 0 h 2915488"/>
              <a:gd name="connsiteX1" fmla="*/ 3238728 w 3238728"/>
              <a:gd name="connsiteY1" fmla="*/ 1619364 h 2915488"/>
              <a:gd name="connsiteX2" fmla="*/ 2649430 w 3238728"/>
              <a:gd name="connsiteY2" fmla="*/ 2868944 h 2915488"/>
              <a:gd name="connsiteX3" fmla="*/ 2587188 w 3238728"/>
              <a:gd name="connsiteY3" fmla="*/ 2915488 h 2915488"/>
              <a:gd name="connsiteX4" fmla="*/ 651541 w 3238728"/>
              <a:gd name="connsiteY4" fmla="*/ 2915488 h 2915488"/>
              <a:gd name="connsiteX5" fmla="*/ 589298 w 3238728"/>
              <a:gd name="connsiteY5" fmla="*/ 2868944 h 2915488"/>
              <a:gd name="connsiteX6" fmla="*/ 0 w 3238728"/>
              <a:gd name="connsiteY6" fmla="*/ 1619364 h 2915488"/>
              <a:gd name="connsiteX7" fmla="*/ 1619364 w 3238728"/>
              <a:gd name="connsiteY7" fmla="*/ 0 h 291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728" h="2915488">
                <a:moveTo>
                  <a:pt x="1619364" y="0"/>
                </a:moveTo>
                <a:cubicBezTo>
                  <a:pt x="2513714" y="0"/>
                  <a:pt x="3238728" y="725014"/>
                  <a:pt x="3238728" y="1619364"/>
                </a:cubicBezTo>
                <a:cubicBezTo>
                  <a:pt x="3238728" y="2122436"/>
                  <a:pt x="3009329" y="2571929"/>
                  <a:pt x="2649430" y="2868944"/>
                </a:cubicBezTo>
                <a:lnTo>
                  <a:pt x="2587188" y="2915488"/>
                </a:lnTo>
                <a:lnTo>
                  <a:pt x="651541" y="2915488"/>
                </a:lnTo>
                <a:lnTo>
                  <a:pt x="589298" y="2868944"/>
                </a:lnTo>
                <a:cubicBezTo>
                  <a:pt x="229399" y="2571929"/>
                  <a:pt x="0" y="2122436"/>
                  <a:pt x="0" y="1619364"/>
                </a:cubicBezTo>
                <a:cubicBezTo>
                  <a:pt x="0" y="725014"/>
                  <a:pt x="725014" y="0"/>
                  <a:pt x="1619364" y="0"/>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Oval 32">
            <a:extLst>
              <a:ext uri="{FF2B5EF4-FFF2-40B4-BE49-F238E27FC236}">
                <a16:creationId xmlns:a16="http://schemas.microsoft.com/office/drawing/2014/main" id="{21B54AE1-1F3F-4A4D-B391-CE0852C55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54040" y="3812192"/>
            <a:ext cx="2091014" cy="2091014"/>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11" descr="A green owl with a white background&#10;&#10;AI-generated content may be incorrect.">
            <a:extLst>
              <a:ext uri="{FF2B5EF4-FFF2-40B4-BE49-F238E27FC236}">
                <a16:creationId xmlns:a16="http://schemas.microsoft.com/office/drawing/2014/main" id="{DA170018-59A8-FDAB-05CB-A9B12E271BB2}"/>
              </a:ext>
            </a:extLst>
          </p:cNvPr>
          <p:cNvPicPr>
            <a:picLocks noChangeAspect="1"/>
          </p:cNvPicPr>
          <p:nvPr/>
        </p:nvPicPr>
        <p:blipFill>
          <a:blip r:embed="rId4"/>
          <a:srcRect r="6" b="9986"/>
          <a:stretch>
            <a:fillRect/>
          </a:stretch>
        </p:blipFill>
        <p:spPr>
          <a:xfrm>
            <a:off x="308884" y="3942512"/>
            <a:ext cx="3238727" cy="2915488"/>
          </a:xfrm>
          <a:custGeom>
            <a:avLst/>
            <a:gdLst/>
            <a:ahLst/>
            <a:cxnLst/>
            <a:rect l="l" t="t" r="r" b="b"/>
            <a:pathLst>
              <a:path w="3238727" h="2915488">
                <a:moveTo>
                  <a:pt x="1619364" y="0"/>
                </a:moveTo>
                <a:cubicBezTo>
                  <a:pt x="2513714" y="0"/>
                  <a:pt x="3238727" y="725014"/>
                  <a:pt x="3238727" y="1619364"/>
                </a:cubicBezTo>
                <a:cubicBezTo>
                  <a:pt x="3238727" y="2122436"/>
                  <a:pt x="3009328" y="2571928"/>
                  <a:pt x="2649429" y="2868943"/>
                </a:cubicBezTo>
                <a:lnTo>
                  <a:pt x="2587186" y="2915488"/>
                </a:lnTo>
                <a:lnTo>
                  <a:pt x="651541" y="2915488"/>
                </a:lnTo>
                <a:lnTo>
                  <a:pt x="589298" y="2868943"/>
                </a:lnTo>
                <a:cubicBezTo>
                  <a:pt x="229399" y="2571928"/>
                  <a:pt x="0" y="2122436"/>
                  <a:pt x="0" y="1619364"/>
                </a:cubicBezTo>
                <a:cubicBezTo>
                  <a:pt x="0" y="725014"/>
                  <a:pt x="725014" y="0"/>
                  <a:pt x="1619364" y="0"/>
                </a:cubicBezTo>
                <a:close/>
              </a:path>
            </a:pathLst>
          </a:custGeom>
        </p:spPr>
      </p:pic>
      <p:pic>
        <p:nvPicPr>
          <p:cNvPr id="14" name="Picture 13" descr="A group of people standing around a large cellphone&#10;&#10;AI-generated content may be incorrect.">
            <a:extLst>
              <a:ext uri="{FF2B5EF4-FFF2-40B4-BE49-F238E27FC236}">
                <a16:creationId xmlns:a16="http://schemas.microsoft.com/office/drawing/2014/main" id="{37E76649-9596-ACDD-2E78-DA8EB3BE980B}"/>
              </a:ext>
            </a:extLst>
          </p:cNvPr>
          <p:cNvPicPr>
            <a:picLocks noChangeAspect="1"/>
          </p:cNvPicPr>
          <p:nvPr/>
        </p:nvPicPr>
        <p:blipFill>
          <a:blip r:embed="rId5"/>
          <a:srcRect l="15067" r="18184"/>
          <a:stretch>
            <a:fillRect/>
          </a:stretch>
        </p:blipFill>
        <p:spPr>
          <a:xfrm>
            <a:off x="3994480" y="3829156"/>
            <a:ext cx="2074050" cy="2074050"/>
          </a:xfrm>
          <a:custGeom>
            <a:avLst/>
            <a:gdLst/>
            <a:ahLst/>
            <a:cxnLst/>
            <a:rect l="l" t="t" r="r" b="b"/>
            <a:pathLst>
              <a:path w="2743498" h="2743498">
                <a:moveTo>
                  <a:pt x="1371749" y="0"/>
                </a:moveTo>
                <a:cubicBezTo>
                  <a:pt x="2129345" y="0"/>
                  <a:pt x="2743498" y="614153"/>
                  <a:pt x="2743498" y="1371749"/>
                </a:cubicBezTo>
                <a:cubicBezTo>
                  <a:pt x="2743498" y="2129345"/>
                  <a:pt x="2129345" y="2743498"/>
                  <a:pt x="1371749" y="2743498"/>
                </a:cubicBezTo>
                <a:cubicBezTo>
                  <a:pt x="614153" y="2743498"/>
                  <a:pt x="0" y="2129345"/>
                  <a:pt x="0" y="1371749"/>
                </a:cubicBezTo>
                <a:cubicBezTo>
                  <a:pt x="0" y="614153"/>
                  <a:pt x="614153" y="0"/>
                  <a:pt x="1371749" y="0"/>
                </a:cubicBezTo>
                <a:close/>
              </a:path>
            </a:pathLst>
          </a:custGeom>
        </p:spPr>
      </p:pic>
      <p:cxnSp>
        <p:nvCxnSpPr>
          <p:cNvPr id="35" name="Straight Connector 3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D11EEAC5-3C62-71BC-AB02-47253D3F702A}"/>
              </a:ext>
            </a:extLst>
          </p:cNvPr>
          <p:cNvSpPr>
            <a:spLocks noGrp="1" noChangeArrowheads="1"/>
          </p:cNvSpPr>
          <p:nvPr>
            <p:ph idx="1"/>
          </p:nvPr>
        </p:nvSpPr>
        <p:spPr bwMode="auto">
          <a:xfrm>
            <a:off x="6692900" y="2082518"/>
            <a:ext cx="489325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RO" altLang="en-RO" sz="1800" b="0" i="0" u="none" strike="noStrike" cap="none" normalizeH="0" baseline="0" dirty="0">
                <a:ln>
                  <a:noFill/>
                </a:ln>
                <a:solidFill>
                  <a:srgbClr val="000000"/>
                </a:solidFill>
                <a:effectLst/>
                <a:latin typeface="Arial" panose="020B0604020202020204" pitchFamily="34" charset="0"/>
              </a:rPr>
              <a:t>        There are several AI-powered tools that make language learning more effective.</a:t>
            </a:r>
            <a:endParaRPr lang="en-RO" altLang="en-RO" sz="18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RO" altLang="en-RO" sz="1800" b="0" i="0" u="none" strike="noStrike" cap="none" normalizeH="0" baseline="0" dirty="0">
                <a:ln>
                  <a:noFill/>
                </a:ln>
                <a:solidFill>
                  <a:srgbClr val="000000"/>
                </a:solidFill>
                <a:effectLst/>
                <a:latin typeface="Arial" panose="020B0604020202020204" pitchFamily="34" charset="0"/>
              </a:rPr>
              <a:t>         Apps like </a:t>
            </a:r>
            <a:r>
              <a:rPr kumimoji="0" lang="en-RO" altLang="en-RO" sz="1800" b="1" i="0" u="none" strike="noStrike" cap="none" normalizeH="0" baseline="0" dirty="0">
                <a:ln>
                  <a:noFill/>
                </a:ln>
                <a:solidFill>
                  <a:srgbClr val="000000"/>
                </a:solidFill>
                <a:effectLst/>
                <a:latin typeface="Arial" panose="020B0604020202020204" pitchFamily="34" charset="0"/>
              </a:rPr>
              <a:t>Babbel</a:t>
            </a:r>
            <a:r>
              <a:rPr kumimoji="0" lang="en-RO" altLang="en-RO" sz="1800" b="0" i="0" u="none" strike="noStrike" cap="none" normalizeH="0" baseline="0" dirty="0">
                <a:ln>
                  <a:noFill/>
                </a:ln>
                <a:solidFill>
                  <a:srgbClr val="000000"/>
                </a:solidFill>
                <a:effectLst/>
                <a:latin typeface="Arial" panose="020B0604020202020204" pitchFamily="34" charset="0"/>
              </a:rPr>
              <a:t>, </a:t>
            </a:r>
            <a:r>
              <a:rPr kumimoji="0" lang="en-RO" altLang="en-RO" sz="1800" b="1" i="0" u="none" strike="noStrike" cap="none" normalizeH="0" baseline="0" dirty="0">
                <a:ln>
                  <a:noFill/>
                </a:ln>
                <a:solidFill>
                  <a:srgbClr val="000000"/>
                </a:solidFill>
                <a:effectLst/>
                <a:latin typeface="Arial" panose="020B0604020202020204" pitchFamily="34" charset="0"/>
              </a:rPr>
              <a:t>Memrise</a:t>
            </a:r>
            <a:r>
              <a:rPr kumimoji="0" lang="en-RO" altLang="en-RO" sz="1800" b="0" i="0" u="none" strike="noStrike" cap="none" normalizeH="0" baseline="0" dirty="0">
                <a:ln>
                  <a:noFill/>
                </a:ln>
                <a:solidFill>
                  <a:srgbClr val="000000"/>
                </a:solidFill>
                <a:effectLst/>
                <a:latin typeface="Arial" panose="020B0604020202020204" pitchFamily="34" charset="0"/>
              </a:rPr>
              <a:t>, and </a:t>
            </a:r>
            <a:r>
              <a:rPr kumimoji="0" lang="en-RO" altLang="en-RO" sz="1800" b="1" i="0" u="none" strike="noStrike" cap="none" normalizeH="0" baseline="0" dirty="0">
                <a:ln>
                  <a:noFill/>
                </a:ln>
                <a:solidFill>
                  <a:srgbClr val="000000"/>
                </a:solidFill>
                <a:effectLst/>
                <a:latin typeface="Arial" panose="020B0604020202020204" pitchFamily="34" charset="0"/>
              </a:rPr>
              <a:t>Grammarly</a:t>
            </a:r>
            <a:r>
              <a:rPr kumimoji="0" lang="en-RO" altLang="en-RO" sz="1800" b="0" i="0" u="none" strike="noStrike" cap="none" normalizeH="0" baseline="0" dirty="0">
                <a:ln>
                  <a:noFill/>
                </a:ln>
                <a:solidFill>
                  <a:srgbClr val="000000"/>
                </a:solidFill>
                <a:effectLst/>
                <a:latin typeface="Arial" panose="020B0604020202020204" pitchFamily="34" charset="0"/>
              </a:rPr>
              <a:t> help students expand vocabulary, correct grammar, and strengthen writing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RO" altLang="en-RO" sz="1800" b="1" i="0" u="none" strike="noStrike" cap="none" normalizeH="0" baseline="0" dirty="0">
                <a:ln>
                  <a:noFill/>
                </a:ln>
                <a:solidFill>
                  <a:srgbClr val="000000"/>
                </a:solidFill>
                <a:effectLst/>
                <a:latin typeface="Arial" panose="020B0604020202020204" pitchFamily="34" charset="0"/>
              </a:rPr>
              <a:t>         Duolingo</a:t>
            </a:r>
            <a:r>
              <a:rPr kumimoji="0" lang="en-RO" altLang="en-RO" sz="1800" b="0" i="0" u="none" strike="noStrike" cap="none" normalizeH="0" baseline="0" dirty="0">
                <a:ln>
                  <a:noFill/>
                </a:ln>
                <a:solidFill>
                  <a:srgbClr val="000000"/>
                </a:solidFill>
                <a:effectLst/>
                <a:latin typeface="Arial" panose="020B0604020202020204" pitchFamily="34" charset="0"/>
              </a:rPr>
              <a:t> uses AI to provide instant pronunciation feedback and adapt lessons to student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RO" altLang="en-RO" sz="1800" b="1" i="0" u="none" strike="noStrike" cap="none" normalizeH="0" baseline="0" dirty="0">
                <a:ln>
                  <a:noFill/>
                </a:ln>
                <a:solidFill>
                  <a:srgbClr val="000000"/>
                </a:solidFill>
                <a:effectLst/>
                <a:latin typeface="Arial" panose="020B0604020202020204" pitchFamily="34" charset="0"/>
              </a:rPr>
              <a:t>         Chatbots</a:t>
            </a:r>
            <a:r>
              <a:rPr kumimoji="0" lang="en-RO" altLang="en-RO" sz="1800" b="0" i="0" u="none" strike="noStrike" cap="none" normalizeH="0" baseline="0" dirty="0">
                <a:ln>
                  <a:noFill/>
                </a:ln>
                <a:solidFill>
                  <a:srgbClr val="000000"/>
                </a:solidFill>
                <a:effectLst/>
                <a:latin typeface="Arial" panose="020B0604020202020204" pitchFamily="34" charset="0"/>
              </a:rPr>
              <a:t> simulate real conversations with native speakers, offering a safe space to practice speaking.</a:t>
            </a:r>
          </a:p>
          <a:p>
            <a:pPr marL="0" marR="0" lvl="0" indent="0" algn="l" defTabSz="914400" rtl="0" eaLnBrk="0" fontAlgn="base" latinLnBrk="0" hangingPunct="0">
              <a:lnSpc>
                <a:spcPct val="100000"/>
              </a:lnSpc>
              <a:spcBef>
                <a:spcPct val="0"/>
              </a:spcBef>
              <a:spcAft>
                <a:spcPct val="0"/>
              </a:spcAft>
              <a:buClrTx/>
              <a:buSzTx/>
              <a:buNone/>
              <a:tabLst/>
            </a:pPr>
            <a:endParaRPr kumimoji="0" lang="en-RO" altLang="en-R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5133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around a shield&#10;&#10;AI-generated content may be incorrect.">
            <a:extLst>
              <a:ext uri="{FF2B5EF4-FFF2-40B4-BE49-F238E27FC236}">
                <a16:creationId xmlns:a16="http://schemas.microsoft.com/office/drawing/2014/main" id="{A8836C53-4FAE-B7F8-3B20-41469B25ED70}"/>
              </a:ext>
            </a:extLst>
          </p:cNvPr>
          <p:cNvPicPr>
            <a:picLocks noChangeAspect="1"/>
          </p:cNvPicPr>
          <p:nvPr/>
        </p:nvPicPr>
        <p:blipFill>
          <a:blip r:embed="rId2">
            <a:alphaModFix/>
          </a:blip>
          <a:srcRect r="6764"/>
          <a:stretch>
            <a:fillRect/>
          </a:stretch>
        </p:blipFill>
        <p:spPr>
          <a:xfrm>
            <a:off x="5833976" y="10"/>
            <a:ext cx="6394152" cy="6857990"/>
          </a:xfrm>
          <a:prstGeom prst="rect">
            <a:avLst/>
          </a:prstGeom>
        </p:spPr>
      </p:pic>
      <p:grpSp>
        <p:nvGrpSpPr>
          <p:cNvPr id="19" name="Group 18">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79564" y="0"/>
            <a:ext cx="6648564" cy="6858000"/>
            <a:chOff x="5705128" y="0"/>
            <a:chExt cx="6648564" cy="6858000"/>
          </a:xfrm>
        </p:grpSpPr>
        <p:sp>
          <p:nvSpPr>
            <p:cNvPr id="13" name="Freeform: Shape 12">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3">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08EE503-3412-705C-CFAC-DBA12BBC7083}"/>
              </a:ext>
            </a:extLst>
          </p:cNvPr>
          <p:cNvSpPr>
            <a:spLocks noGrp="1"/>
          </p:cNvSpPr>
          <p:nvPr>
            <p:ph type="title"/>
          </p:nvPr>
        </p:nvSpPr>
        <p:spPr>
          <a:xfrm>
            <a:off x="387964" y="-430773"/>
            <a:ext cx="4803636" cy="1311664"/>
          </a:xfrm>
        </p:spPr>
        <p:txBody>
          <a:bodyPr anchor="b">
            <a:normAutofit/>
          </a:bodyPr>
          <a:lstStyle/>
          <a:p>
            <a:r>
              <a:rPr lang="en-US" sz="3600" dirty="0">
                <a:solidFill>
                  <a:schemeClr val="tx2"/>
                </a:solidFill>
              </a:rPr>
              <a:t>AI and Digital Safety</a:t>
            </a:r>
            <a:endParaRPr lang="en-RO" sz="3600" dirty="0">
              <a:solidFill>
                <a:schemeClr val="tx2"/>
              </a:solidFill>
            </a:endParaRPr>
          </a:p>
        </p:txBody>
      </p:sp>
      <p:sp>
        <p:nvSpPr>
          <p:cNvPr id="3" name="Content Placeholder 2">
            <a:extLst>
              <a:ext uri="{FF2B5EF4-FFF2-40B4-BE49-F238E27FC236}">
                <a16:creationId xmlns:a16="http://schemas.microsoft.com/office/drawing/2014/main" id="{3A7B2EAA-2B69-B989-F514-24DBFAE17BBB}"/>
              </a:ext>
            </a:extLst>
          </p:cNvPr>
          <p:cNvSpPr>
            <a:spLocks noGrp="1"/>
          </p:cNvSpPr>
          <p:nvPr>
            <p:ph idx="1"/>
          </p:nvPr>
        </p:nvSpPr>
        <p:spPr>
          <a:xfrm>
            <a:off x="387964" y="1311664"/>
            <a:ext cx="4960213" cy="4831195"/>
          </a:xfrm>
        </p:spPr>
        <p:txBody>
          <a:bodyPr anchor="ctr">
            <a:noAutofit/>
          </a:bodyPr>
          <a:lstStyle/>
          <a:p>
            <a:r>
              <a:rPr lang="en-US" sz="2000" dirty="0">
                <a:latin typeface="Arial" panose="020B0604020202020204" pitchFamily="34" charset="0"/>
                <a:cs typeface="Arial" panose="020B0604020202020204" pitchFamily="34" charset="0"/>
              </a:rPr>
              <a:t>         AI improves digital safety in schools by monitoring online activity and identifying potential risks during digital lessons. </a:t>
            </a:r>
          </a:p>
          <a:p>
            <a:r>
              <a:rPr lang="en-US" sz="2000" dirty="0">
                <a:latin typeface="Arial" panose="020B0604020202020204" pitchFamily="34" charset="0"/>
                <a:cs typeface="Arial" panose="020B0604020202020204" pitchFamily="34" charset="0"/>
              </a:rPr>
              <a:t>          AI tools also block dangerous websites, filter offensive messages, and recognize patterns related to cyberbullying. </a:t>
            </a:r>
          </a:p>
          <a:p>
            <a:r>
              <a:rPr lang="en-US" sz="2000" dirty="0">
                <a:latin typeface="Arial" panose="020B0604020202020204" pitchFamily="34" charset="0"/>
                <a:cs typeface="Arial" panose="020B0604020202020204" pitchFamily="34" charset="0"/>
              </a:rPr>
              <a:t>         By analyzing chat activity and ensuring respectful communication, AI helps create a safer online environment where students can focus on learning without being exposed to digital threats.</a:t>
            </a:r>
            <a:endParaRPr lang="en-RO" sz="20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084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omputer monitor showing a graph&#10;&#10;AI-generated content may be incorrect.">
            <a:extLst>
              <a:ext uri="{FF2B5EF4-FFF2-40B4-BE49-F238E27FC236}">
                <a16:creationId xmlns:a16="http://schemas.microsoft.com/office/drawing/2014/main" id="{1658AAF1-12F8-52DD-E086-CC4058B9B9C1}"/>
              </a:ext>
            </a:extLst>
          </p:cNvPr>
          <p:cNvPicPr>
            <a:picLocks noChangeAspect="1"/>
          </p:cNvPicPr>
          <p:nvPr/>
        </p:nvPicPr>
        <p:blipFill>
          <a:blip r:embed="rId2"/>
          <a:srcRect t="16924" b="10889"/>
          <a:stretch>
            <a:fillRect/>
          </a:stretch>
        </p:blipFill>
        <p:spPr>
          <a:xfrm>
            <a:off x="1" y="10"/>
            <a:ext cx="9669642" cy="6857990"/>
          </a:xfrm>
          <a:prstGeom prst="rect">
            <a:avLst/>
          </a:prstGeom>
        </p:spPr>
      </p:pic>
      <p:sp>
        <p:nvSpPr>
          <p:cNvPr id="25" name="Rectangle 2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A43382-4192-BAC8-55D4-48698349C53E}"/>
              </a:ext>
            </a:extLst>
          </p:cNvPr>
          <p:cNvSpPr>
            <a:spLocks noGrp="1"/>
          </p:cNvSpPr>
          <p:nvPr>
            <p:ph type="title"/>
          </p:nvPr>
        </p:nvSpPr>
        <p:spPr>
          <a:xfrm>
            <a:off x="7107108" y="480667"/>
            <a:ext cx="3822189" cy="1899912"/>
          </a:xfrm>
        </p:spPr>
        <p:txBody>
          <a:bodyPr>
            <a:normAutofit/>
          </a:bodyPr>
          <a:lstStyle/>
          <a:p>
            <a:r>
              <a:rPr lang="en-US" sz="4000" dirty="0"/>
              <a:t>Smart Classroom 		Tools</a:t>
            </a:r>
            <a:endParaRPr lang="en-RO" sz="4000" dirty="0"/>
          </a:p>
        </p:txBody>
      </p:sp>
      <p:sp>
        <p:nvSpPr>
          <p:cNvPr id="13" name="Rectangle 8">
            <a:extLst>
              <a:ext uri="{FF2B5EF4-FFF2-40B4-BE49-F238E27FC236}">
                <a16:creationId xmlns:a16="http://schemas.microsoft.com/office/drawing/2014/main" id="{732E012E-C4A4-E9B9-289D-AD10207E2CDC}"/>
              </a:ext>
            </a:extLst>
          </p:cNvPr>
          <p:cNvSpPr>
            <a:spLocks noGrp="1" noChangeArrowheads="1"/>
          </p:cNvSpPr>
          <p:nvPr>
            <p:ph idx="1"/>
          </p:nvPr>
        </p:nvSpPr>
        <p:spPr bwMode="auto">
          <a:xfrm>
            <a:off x="7874178" y="2380579"/>
            <a:ext cx="3987622" cy="374276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000" dirty="0"/>
              <a:t>          In many schools, smart classroom tools make lessons more organized and interactive. </a:t>
            </a:r>
          </a:p>
          <a:p>
            <a:r>
              <a:rPr lang="en-US" sz="2000" dirty="0"/>
              <a:t>          Digital boards, classroom platforms, and simple AI features help teachers present content clearly, share materials, and offer students extra practice when needed. </a:t>
            </a:r>
          </a:p>
          <a:p>
            <a:r>
              <a:rPr lang="en-US" sz="2000" dirty="0"/>
              <a:t>          These tools save time and keep students more engaged.</a:t>
            </a:r>
          </a:p>
          <a:p>
            <a:pPr marL="0" indent="0">
              <a:buNone/>
            </a:pPr>
            <a:endParaRPr lang="en-US" sz="2000" dirty="0"/>
          </a:p>
          <a:p>
            <a:pPr marL="0" marR="0" lvl="0" indent="0" defTabSz="914400" rtl="0" eaLnBrk="0" fontAlgn="base" latinLnBrk="0" hangingPunct="0">
              <a:spcBef>
                <a:spcPct val="0"/>
              </a:spcBef>
              <a:spcAft>
                <a:spcPts val="600"/>
              </a:spcAft>
              <a:buClrTx/>
              <a:buSzTx/>
              <a:buFontTx/>
              <a:buNone/>
              <a:tabLst/>
            </a:pPr>
            <a:endParaRPr kumimoji="0" lang="en-RO" altLang="en-RO"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252802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E669607-2F96-34FF-3175-4B279038A322}"/>
              </a:ext>
            </a:extLst>
          </p:cNvPr>
          <p:cNvSpPr>
            <a:spLocks noGrp="1" noChangeArrowheads="1"/>
          </p:cNvSpPr>
          <p:nvPr>
            <p:ph type="title"/>
          </p:nvPr>
        </p:nvSpPr>
        <p:spPr bwMode="auto">
          <a:xfrm>
            <a:off x="7910285" y="658369"/>
            <a:ext cx="3624071" cy="16626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b" anchorCtr="0" compatLnSpc="1">
            <a:prstTxWarp prst="textNoShape">
              <a:avLst/>
            </a:prstTxWarp>
            <a:normAutofit/>
          </a:bodyPr>
          <a:lstStyle/>
          <a:p>
            <a:pPr marL="0" marR="0" lvl="0" indent="0" algn="ctr" defTabSz="914400" rtl="0" eaLnBrk="0" fontAlgn="base" latinLnBrk="0" hangingPunct="0">
              <a:spcBef>
                <a:spcPct val="0"/>
              </a:spcBef>
              <a:spcAft>
                <a:spcPct val="0"/>
              </a:spcAft>
              <a:buClrTx/>
              <a:buSzTx/>
              <a:buFontTx/>
              <a:buNone/>
              <a:tabLst/>
            </a:pPr>
            <a:r>
              <a:rPr kumimoji="0" lang="en-RO" altLang="en-RO" sz="3200" b="0" i="0" u="none" strike="noStrike" cap="none" normalizeH="0" baseline="0" dirty="0">
                <a:ln>
                  <a:noFill/>
                </a:ln>
                <a:effectLst/>
                <a:latin typeface="-webkit-standard"/>
              </a:rPr>
              <a:t>Challenges and Disadvantages of AI in Schools </a:t>
            </a:r>
            <a:endParaRPr kumimoji="0" lang="en-RO" altLang="en-RO" sz="3200" b="0" i="0" u="none" strike="noStrike" cap="none" normalizeH="0" baseline="0" dirty="0">
              <a:ln>
                <a:noFill/>
              </a:ln>
              <a:effectLst/>
              <a:latin typeface="Arial" panose="020B0604020202020204" pitchFamily="34" charset="0"/>
            </a:endParaRPr>
          </a:p>
        </p:txBody>
      </p:sp>
      <p:pic>
        <p:nvPicPr>
          <p:cNvPr id="6" name="Picture 5" descr="A person sitting at a desk writing on a paper&#10;&#10;AI-generated content may be incorrect.">
            <a:extLst>
              <a:ext uri="{FF2B5EF4-FFF2-40B4-BE49-F238E27FC236}">
                <a16:creationId xmlns:a16="http://schemas.microsoft.com/office/drawing/2014/main" id="{D23CAA4D-31F5-3450-D9A8-971913B7F117}"/>
              </a:ext>
            </a:extLst>
          </p:cNvPr>
          <p:cNvPicPr>
            <a:picLocks noChangeAspect="1"/>
          </p:cNvPicPr>
          <p:nvPr/>
        </p:nvPicPr>
        <p:blipFill>
          <a:blip r:embed="rId2"/>
          <a:stretch>
            <a:fillRect/>
          </a:stretch>
        </p:blipFill>
        <p:spPr>
          <a:xfrm>
            <a:off x="787114" y="1071841"/>
            <a:ext cx="6449549" cy="46436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Content Placeholder 2">
            <a:extLst>
              <a:ext uri="{FF2B5EF4-FFF2-40B4-BE49-F238E27FC236}">
                <a16:creationId xmlns:a16="http://schemas.microsoft.com/office/drawing/2014/main" id="{48083A65-EB8A-1236-F621-5AC5C8B9BF14}"/>
              </a:ext>
            </a:extLst>
          </p:cNvPr>
          <p:cNvSpPr>
            <a:spLocks noGrp="1"/>
          </p:cNvSpPr>
          <p:nvPr>
            <p:ph idx="1"/>
          </p:nvPr>
        </p:nvSpPr>
        <p:spPr>
          <a:xfrm>
            <a:off x="7731576" y="3063828"/>
            <a:ext cx="3981487" cy="3447832"/>
          </a:xfrm>
        </p:spPr>
        <p:txBody>
          <a:bodyPr anchor="t">
            <a:normAutofit/>
          </a:bodyPr>
          <a:lstStyle/>
          <a:p>
            <a:r>
              <a:rPr lang="en-US" sz="2000" dirty="0"/>
              <a:t>          Although AI offers many benefits, it also brings several challenges and disadvantages when used in schools. These issues need to be understood so that technology can be used responsibly and effectively.</a:t>
            </a:r>
            <a:endParaRPr lang="en-RO" sz="2000" dirty="0"/>
          </a:p>
        </p:txBody>
      </p:sp>
      <p:grpSp>
        <p:nvGrpSpPr>
          <p:cNvPr id="11" name="Group 10">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2" name="Rectangle 11">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17406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A person reading a book&#10;&#10;AI-generated content may be incorrect.">
            <a:extLst>
              <a:ext uri="{FF2B5EF4-FFF2-40B4-BE49-F238E27FC236}">
                <a16:creationId xmlns:a16="http://schemas.microsoft.com/office/drawing/2014/main" id="{51B9ED04-6DA1-66A3-2896-9CE0A27013AC}"/>
              </a:ext>
            </a:extLst>
          </p:cNvPr>
          <p:cNvPicPr>
            <a:picLocks noChangeAspect="1"/>
          </p:cNvPicPr>
          <p:nvPr/>
        </p:nvPicPr>
        <p:blipFill>
          <a:blip r:embed="rId2"/>
          <a:srcRect r="3182" b="-1"/>
          <a:stretch>
            <a:fillRect/>
          </a:stretch>
        </p:blipFill>
        <p:spPr>
          <a:xfrm>
            <a:off x="0" y="0"/>
            <a:ext cx="9947062" cy="6857990"/>
          </a:xfrm>
          <a:prstGeom prst="rect">
            <a:avLst/>
          </a:prstGeom>
        </p:spPr>
      </p:pic>
      <p:sp>
        <p:nvSpPr>
          <p:cNvPr id="12" name="Freeform: Shape 11">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4" name="Freeform: Shape 13">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6" name="Freeform: Shape 15">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A4FE385C-090F-78F1-B143-6E1C969864F4}"/>
              </a:ext>
            </a:extLst>
          </p:cNvPr>
          <p:cNvSpPr>
            <a:spLocks noGrp="1"/>
          </p:cNvSpPr>
          <p:nvPr>
            <p:ph type="title"/>
          </p:nvPr>
        </p:nvSpPr>
        <p:spPr>
          <a:xfrm>
            <a:off x="7961874" y="335137"/>
            <a:ext cx="3633746" cy="1588422"/>
          </a:xfrm>
        </p:spPr>
        <p:txBody>
          <a:bodyPr anchor="b">
            <a:normAutofit/>
          </a:bodyPr>
          <a:lstStyle/>
          <a:p>
            <a:r>
              <a:rPr lang="en-US" sz="3600" dirty="0"/>
              <a:t>Risk of Overdependence</a:t>
            </a:r>
            <a:endParaRPr lang="en-RO" sz="3600" dirty="0"/>
          </a:p>
        </p:txBody>
      </p:sp>
      <p:sp>
        <p:nvSpPr>
          <p:cNvPr id="3" name="Content Placeholder 2">
            <a:extLst>
              <a:ext uri="{FF2B5EF4-FFF2-40B4-BE49-F238E27FC236}">
                <a16:creationId xmlns:a16="http://schemas.microsoft.com/office/drawing/2014/main" id="{87443EFF-1714-577A-4B00-C6D22AB45687}"/>
              </a:ext>
            </a:extLst>
          </p:cNvPr>
          <p:cNvSpPr>
            <a:spLocks noGrp="1"/>
          </p:cNvSpPr>
          <p:nvPr>
            <p:ph idx="1"/>
          </p:nvPr>
        </p:nvSpPr>
        <p:spPr>
          <a:xfrm>
            <a:off x="7578753" y="2078964"/>
            <a:ext cx="4399987" cy="2700062"/>
          </a:xfrm>
        </p:spPr>
        <p:txBody>
          <a:bodyPr>
            <a:noAutofit/>
          </a:bodyPr>
          <a:lstStyle/>
          <a:p>
            <a:r>
              <a:rPr lang="en-US" sz="2000" dirty="0"/>
              <a:t>                One disadvantage is that students may rely too much on AI tools and stop thinking for themselves. If learners always depend on AI to check grammar, solve problems, or generate ideas, they may develop weaker critical thinking and problem-solving skills.</a:t>
            </a:r>
          </a:p>
          <a:p>
            <a:r>
              <a:rPr lang="en-US" sz="2000" dirty="0"/>
              <a:t>It is important for students to use AI as support, not as a replacement for learning.</a:t>
            </a:r>
            <a:endParaRPr lang="en-RO" sz="2000" dirty="0"/>
          </a:p>
        </p:txBody>
      </p:sp>
    </p:spTree>
    <p:extLst>
      <p:ext uri="{BB962C8B-B14F-4D97-AF65-F5344CB8AC3E}">
        <p14:creationId xmlns:p14="http://schemas.microsoft.com/office/powerpoint/2010/main" val="482400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D3C6B85-7344-9CD2-62EE-009C39D7D71E}"/>
              </a:ext>
            </a:extLst>
          </p:cNvPr>
          <p:cNvSpPr>
            <a:spLocks noGrp="1"/>
          </p:cNvSpPr>
          <p:nvPr>
            <p:ph type="title"/>
          </p:nvPr>
        </p:nvSpPr>
        <p:spPr>
          <a:xfrm>
            <a:off x="477070" y="1181099"/>
            <a:ext cx="5387502" cy="1325563"/>
          </a:xfrm>
        </p:spPr>
        <p:txBody>
          <a:bodyPr>
            <a:normAutofit/>
          </a:bodyPr>
          <a:lstStyle/>
          <a:p>
            <a:r>
              <a:rPr lang="en-US" dirty="0"/>
              <a:t>Unequal Access to 	Technology</a:t>
            </a:r>
            <a:endParaRPr lang="en-RO" dirty="0"/>
          </a:p>
        </p:txBody>
      </p:sp>
      <p:sp>
        <p:nvSpPr>
          <p:cNvPr id="3" name="Content Placeholder 2">
            <a:extLst>
              <a:ext uri="{FF2B5EF4-FFF2-40B4-BE49-F238E27FC236}">
                <a16:creationId xmlns:a16="http://schemas.microsoft.com/office/drawing/2014/main" id="{95FA4B9A-6CCA-B65A-1423-350A34C37406}"/>
              </a:ext>
            </a:extLst>
          </p:cNvPr>
          <p:cNvSpPr>
            <a:spLocks noGrp="1"/>
          </p:cNvSpPr>
          <p:nvPr>
            <p:ph idx="1"/>
          </p:nvPr>
        </p:nvSpPr>
        <p:spPr>
          <a:xfrm>
            <a:off x="616896" y="3067571"/>
            <a:ext cx="5387502" cy="4351338"/>
          </a:xfrm>
        </p:spPr>
        <p:txBody>
          <a:bodyPr>
            <a:normAutofit/>
          </a:bodyPr>
          <a:lstStyle/>
          <a:p>
            <a:r>
              <a:rPr lang="en-US" sz="2000" dirty="0"/>
              <a:t>           Not all students have access to laptops, tablets, or fast internet. This creates inequality because some students can benefit from AI tools while others cannot.</a:t>
            </a:r>
          </a:p>
          <a:p>
            <a:r>
              <a:rPr lang="en-US" sz="2000" dirty="0"/>
              <a:t>             Schools must find ways to make technology available to everyone so that learning remains fair.</a:t>
            </a:r>
            <a:endParaRPr lang="en-RO" sz="2000" dirty="0"/>
          </a:p>
        </p:txBody>
      </p:sp>
      <p:pic>
        <p:nvPicPr>
          <p:cNvPr id="5" name="Picture 4" descr="A group of children sitting at a table&#10;&#10;AI-generated content may be incorrect.">
            <a:extLst>
              <a:ext uri="{FF2B5EF4-FFF2-40B4-BE49-F238E27FC236}">
                <a16:creationId xmlns:a16="http://schemas.microsoft.com/office/drawing/2014/main" id="{CE3BD28F-EA2C-CC90-2EA3-8C2CD4EE9809}"/>
              </a:ext>
            </a:extLst>
          </p:cNvPr>
          <p:cNvPicPr>
            <a:picLocks noChangeAspect="1"/>
          </p:cNvPicPr>
          <p:nvPr/>
        </p:nvPicPr>
        <p:blipFill>
          <a:blip r:embed="rId2"/>
          <a:srcRect l="31432" r="15990" b="-2"/>
          <a:stretch>
            <a:fillRect/>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2"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5781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7D55B-4C12-B88C-4C5E-4390850E892C}"/>
              </a:ext>
            </a:extLst>
          </p:cNvPr>
          <p:cNvSpPr>
            <a:spLocks noGrp="1"/>
          </p:cNvSpPr>
          <p:nvPr>
            <p:ph type="title"/>
          </p:nvPr>
        </p:nvSpPr>
        <p:spPr>
          <a:xfrm>
            <a:off x="429768" y="411480"/>
            <a:ext cx="11201400" cy="1106424"/>
          </a:xfrm>
        </p:spPr>
        <p:txBody>
          <a:bodyPr>
            <a:normAutofit/>
          </a:bodyPr>
          <a:lstStyle/>
          <a:p>
            <a:r>
              <a:rPr lang="en-US" sz="3600" dirty="0"/>
              <a:t>AI Can Make Mistakes</a:t>
            </a:r>
            <a:endParaRPr lang="en-RO" sz="3600" dirty="0"/>
          </a:p>
        </p:txBody>
      </p:sp>
      <p:sp>
        <p:nvSpPr>
          <p:cNvPr id="23" name="Rectangle 2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descr="A robot looking at a donut&#10;&#10;AI-generated content may be incorrect.">
            <a:extLst>
              <a:ext uri="{FF2B5EF4-FFF2-40B4-BE49-F238E27FC236}">
                <a16:creationId xmlns:a16="http://schemas.microsoft.com/office/drawing/2014/main" id="{58FC52F2-A3C7-B6ED-F9A2-26E028C5D19D}"/>
              </a:ext>
            </a:extLst>
          </p:cNvPr>
          <p:cNvPicPr>
            <a:picLocks noChangeAspect="1"/>
          </p:cNvPicPr>
          <p:nvPr/>
        </p:nvPicPr>
        <p:blipFill>
          <a:blip r:embed="rId2"/>
          <a:stretch>
            <a:fillRect/>
          </a:stretch>
        </p:blipFill>
        <p:spPr>
          <a:xfrm>
            <a:off x="429768" y="1883092"/>
            <a:ext cx="6702552" cy="4189095"/>
          </a:xfrm>
          <a:prstGeom prst="rect">
            <a:avLst/>
          </a:prstGeom>
        </p:spPr>
      </p:pic>
      <p:sp useBgFill="1">
        <p:nvSpPr>
          <p:cNvPr id="21" name="Rectangle 20">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3">
            <a:extLst>
              <a:ext uri="{FF2B5EF4-FFF2-40B4-BE49-F238E27FC236}">
                <a16:creationId xmlns:a16="http://schemas.microsoft.com/office/drawing/2014/main" id="{4DA60E69-92CA-DD15-F2B1-F7415E06C1F9}"/>
              </a:ext>
            </a:extLst>
          </p:cNvPr>
          <p:cNvSpPr>
            <a:spLocks noGrp="1" noChangeArrowheads="1"/>
          </p:cNvSpPr>
          <p:nvPr>
            <p:ph idx="1"/>
          </p:nvPr>
        </p:nvSpPr>
        <p:spPr bwMode="auto">
          <a:xfrm>
            <a:off x="7743826" y="1997963"/>
            <a:ext cx="3887342" cy="395935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RO" altLang="en-RO" sz="2000" b="0" i="0" u="none" strike="noStrike" cap="none" normalizeH="0" baseline="0" dirty="0">
                <a:ln>
                  <a:noFill/>
                </a:ln>
                <a:effectLst/>
                <a:latin typeface="Arial" panose="020B0604020202020204" pitchFamily="34" charset="0"/>
                <a:cs typeface="Arial" panose="020B0604020202020204" pitchFamily="34" charset="0"/>
              </a:rPr>
              <a:t>           AI doesn’t always understand what students mean.</a:t>
            </a:r>
          </a:p>
          <a:p>
            <a:pPr eaLnBrk="0" fontAlgn="base" hangingPunct="0">
              <a:spcBef>
                <a:spcPct val="0"/>
              </a:spcBef>
              <a:spcAft>
                <a:spcPts val="600"/>
              </a:spcAft>
            </a:pPr>
            <a:r>
              <a:rPr kumimoji="0" lang="en-RO" altLang="en-RO" sz="2000" b="0" i="0" u="none" strike="noStrike" cap="none" normalizeH="0" baseline="0" dirty="0">
                <a:ln>
                  <a:noFill/>
                </a:ln>
                <a:effectLst/>
                <a:latin typeface="Arial" panose="020B0604020202020204" pitchFamily="34" charset="0"/>
                <a:cs typeface="Arial" panose="020B0604020202020204" pitchFamily="34" charset="0"/>
              </a:rPr>
              <a:t>           It can give incorrect answers or unsuitable suggestions, so it’s important to check information from multiple sources. </a:t>
            </a:r>
          </a:p>
        </p:txBody>
      </p:sp>
    </p:spTree>
    <p:extLst>
      <p:ext uri="{BB962C8B-B14F-4D97-AF65-F5344CB8AC3E}">
        <p14:creationId xmlns:p14="http://schemas.microsoft.com/office/powerpoint/2010/main" val="3303535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B5E2835-4E47-45B3-9CFE-732FF7B05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oster with colorful hexagons&#10;&#10;AI-generated content may be incorrect.">
            <a:extLst>
              <a:ext uri="{FF2B5EF4-FFF2-40B4-BE49-F238E27FC236}">
                <a16:creationId xmlns:a16="http://schemas.microsoft.com/office/drawing/2014/main" id="{77A85F63-2310-658B-B1D8-3BAAFA41C58A}"/>
              </a:ext>
            </a:extLst>
          </p:cNvPr>
          <p:cNvPicPr>
            <a:picLocks noChangeAspect="1"/>
          </p:cNvPicPr>
          <p:nvPr/>
        </p:nvPicPr>
        <p:blipFill>
          <a:blip r:embed="rId2"/>
          <a:srcRect t="22393" r="1" b="22049"/>
          <a:stretch>
            <a:fillRect/>
          </a:stretch>
        </p:blipFill>
        <p:spPr>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p:spPr>
      </p:pic>
      <p:sp useBgFill="1">
        <p:nvSpPr>
          <p:cNvPr id="25" name="Freeform: Shape 24">
            <a:extLst>
              <a:ext uri="{FF2B5EF4-FFF2-40B4-BE49-F238E27FC236}">
                <a16:creationId xmlns:a16="http://schemas.microsoft.com/office/drawing/2014/main" id="{5B45AD5D-AA52-4F7B-9362-576A39AD9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D5D5D5"/>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AEDD7960-4866-4399-BEF6-DD1431AB4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AA0648-B815-88F8-192C-BDA0F62FEBA3}"/>
              </a:ext>
            </a:extLst>
          </p:cNvPr>
          <p:cNvSpPr>
            <a:spLocks noGrp="1"/>
          </p:cNvSpPr>
          <p:nvPr>
            <p:ph type="title"/>
          </p:nvPr>
        </p:nvSpPr>
        <p:spPr>
          <a:xfrm>
            <a:off x="371094" y="1161288"/>
            <a:ext cx="3438144" cy="1125728"/>
          </a:xfrm>
        </p:spPr>
        <p:txBody>
          <a:bodyPr anchor="b">
            <a:normAutofit/>
          </a:bodyPr>
          <a:lstStyle/>
          <a:p>
            <a:r>
              <a:rPr lang="en-US" sz="2800"/>
              <a:t>The Role of Teachers Is Still Essential</a:t>
            </a:r>
            <a:endParaRPr lang="en-RO" sz="2800"/>
          </a:p>
        </p:txBody>
      </p:sp>
      <p:sp>
        <p:nvSpPr>
          <p:cNvPr id="29" name="Rectangle 2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Rectangle 1">
            <a:extLst>
              <a:ext uri="{FF2B5EF4-FFF2-40B4-BE49-F238E27FC236}">
                <a16:creationId xmlns:a16="http://schemas.microsoft.com/office/drawing/2014/main" id="{1E91E597-2AEB-54EF-F36E-2B01FE46D981}"/>
              </a:ext>
            </a:extLst>
          </p:cNvPr>
          <p:cNvSpPr>
            <a:spLocks noGrp="1" noChangeArrowheads="1"/>
          </p:cNvSpPr>
          <p:nvPr>
            <p:ph idx="1"/>
          </p:nvPr>
        </p:nvSpPr>
        <p:spPr bwMode="auto">
          <a:xfrm>
            <a:off x="209462" y="2618232"/>
            <a:ext cx="3556342" cy="357212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eaLnBrk="0" fontAlgn="base" hangingPunct="0">
              <a:spcBef>
                <a:spcPct val="0"/>
              </a:spcBef>
              <a:spcAft>
                <a:spcPts val="600"/>
              </a:spcAft>
            </a:pPr>
            <a:r>
              <a:rPr kumimoji="0" lang="en-RO" altLang="en-RO" sz="2000" b="0" i="0" u="none" strike="noStrike" cap="none" normalizeH="0" baseline="0" dirty="0">
                <a:ln>
                  <a:noFill/>
                </a:ln>
                <a:effectLst/>
                <a:latin typeface="Arial" panose="020B0604020202020204" pitchFamily="34" charset="0"/>
                <a:cs typeface="Arial" panose="020B0604020202020204" pitchFamily="34" charset="0"/>
              </a:rPr>
              <a:t>	Even with the growing use of AI, teachers remain irreplaceable.</a:t>
            </a:r>
          </a:p>
          <a:p>
            <a:pPr eaLnBrk="0" fontAlgn="base" hangingPunct="0">
              <a:spcBef>
                <a:spcPct val="0"/>
              </a:spcBef>
              <a:spcAft>
                <a:spcPts val="600"/>
              </a:spcAft>
            </a:pPr>
            <a:r>
              <a:rPr lang="en-RO" altLang="en-RO" sz="2000" dirty="0">
                <a:latin typeface="Arial" panose="020B0604020202020204" pitchFamily="34" charset="0"/>
                <a:cs typeface="Arial" panose="020B0604020202020204" pitchFamily="34" charset="0"/>
              </a:rPr>
              <a:t>         </a:t>
            </a:r>
            <a:r>
              <a:rPr kumimoji="0" lang="en-RO" altLang="en-RO" sz="2000" b="0" i="0" u="none" strike="noStrike" cap="none" normalizeH="0" baseline="0" dirty="0">
                <a:ln>
                  <a:noFill/>
                </a:ln>
                <a:effectLst/>
                <a:latin typeface="Arial" panose="020B0604020202020204" pitchFamily="34" charset="0"/>
                <a:cs typeface="Arial" panose="020B0604020202020204" pitchFamily="34" charset="0"/>
              </a:rPr>
              <a:t> AI cannot understand emotions the way people do, cannot motivate or inspire students, and cannot replace human connection. </a:t>
            </a:r>
          </a:p>
          <a:p>
            <a:pPr eaLnBrk="0" fontAlgn="base" hangingPunct="0">
              <a:spcBef>
                <a:spcPct val="0"/>
              </a:spcBef>
              <a:spcAft>
                <a:spcPts val="600"/>
              </a:spcAft>
            </a:pPr>
            <a:r>
              <a:rPr lang="en-RO" altLang="en-RO" sz="2000" dirty="0">
                <a:latin typeface="Arial" panose="020B0604020202020204" pitchFamily="34" charset="0"/>
                <a:cs typeface="Arial" panose="020B0604020202020204" pitchFamily="34" charset="0"/>
              </a:rPr>
              <a:t>         </a:t>
            </a:r>
            <a:r>
              <a:rPr kumimoji="0" lang="en-RO" altLang="en-RO" sz="2000" b="0" i="0" u="none" strike="noStrike" cap="none" normalizeH="0" baseline="0" dirty="0">
                <a:ln>
                  <a:noFill/>
                </a:ln>
                <a:effectLst/>
                <a:latin typeface="Arial" panose="020B0604020202020204" pitchFamily="34" charset="0"/>
                <a:cs typeface="Arial" panose="020B0604020202020204" pitchFamily="34" charset="0"/>
              </a:rPr>
              <a:t>It is most effective when used alongside teachers to improve learning—not instead of them.</a:t>
            </a:r>
          </a:p>
        </p:txBody>
      </p:sp>
    </p:spTree>
    <p:extLst>
      <p:ext uri="{BB962C8B-B14F-4D97-AF65-F5344CB8AC3E}">
        <p14:creationId xmlns:p14="http://schemas.microsoft.com/office/powerpoint/2010/main" val="2409981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robot holding a computer and a phone&#10;&#10;AI-generated content may be incorrect.">
            <a:extLst>
              <a:ext uri="{FF2B5EF4-FFF2-40B4-BE49-F238E27FC236}">
                <a16:creationId xmlns:a16="http://schemas.microsoft.com/office/drawing/2014/main" id="{E3DF847E-F0AF-3252-E926-18B3B7ACE18A}"/>
              </a:ext>
            </a:extLst>
          </p:cNvPr>
          <p:cNvPicPr>
            <a:picLocks noChangeAspect="1"/>
          </p:cNvPicPr>
          <p:nvPr/>
        </p:nvPicPr>
        <p:blipFill>
          <a:blip r:embed="rId2">
            <a:alphaModFix amt="50000"/>
          </a:blip>
          <a:srcRect t="26835" r="-1" b="16900"/>
          <a:stretch>
            <a:fillRect/>
          </a:stretch>
        </p:blipFill>
        <p:spPr>
          <a:xfrm>
            <a:off x="0" y="10"/>
            <a:ext cx="12188931" cy="6857990"/>
          </a:xfrm>
          <a:prstGeom prst="rect">
            <a:avLst/>
          </a:prstGeom>
        </p:spPr>
      </p:pic>
      <p:sp>
        <p:nvSpPr>
          <p:cNvPr id="2" name="Title 1">
            <a:extLst>
              <a:ext uri="{FF2B5EF4-FFF2-40B4-BE49-F238E27FC236}">
                <a16:creationId xmlns:a16="http://schemas.microsoft.com/office/drawing/2014/main" id="{248973DD-51FB-A2E0-8129-9CB946FA90BF}"/>
              </a:ext>
            </a:extLst>
          </p:cNvPr>
          <p:cNvSpPr>
            <a:spLocks noGrp="1"/>
          </p:cNvSpPr>
          <p:nvPr>
            <p:ph type="title"/>
          </p:nvPr>
        </p:nvSpPr>
        <p:spPr>
          <a:xfrm>
            <a:off x="1344168" y="2489278"/>
            <a:ext cx="9144000" cy="3063240"/>
          </a:xfrm>
        </p:spPr>
        <p:txBody>
          <a:bodyPr vert="horz" lIns="91440" tIns="45720" rIns="91440" bIns="45720" rtlCol="0" anchor="b">
            <a:noAutofit/>
          </a:bodyPr>
          <a:lstStyle/>
          <a:p>
            <a:pPr algn="ctr"/>
            <a:r>
              <a:rPr lang="en-US" sz="8000" dirty="0">
                <a:ln w="22225">
                  <a:solidFill>
                    <a:srgbClr val="FFFFFF"/>
                  </a:solidFill>
                </a:ln>
                <a:solidFill>
                  <a:schemeClr val="accent1">
                    <a:lumMod val="60000"/>
                    <a:lumOff val="40000"/>
                  </a:schemeClr>
                </a:solidFill>
                <a:latin typeface="Zapfino" panose="03030300040707070C03" pitchFamily="66" charset="77"/>
              </a:rPr>
              <a:t>Thank You</a:t>
            </a:r>
          </a:p>
        </p:txBody>
      </p:sp>
      <p:sp>
        <p:nvSpPr>
          <p:cNvPr id="24"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273199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8C398B-ABE1-2B4B-8065-149573EDAB5C}">
  <we:reference id="6a7bd4f3-0563-43af-8c08-79110eebdff6" version="1.1.4.0" store="EXCatalog" storeType="EXCatalog"/>
  <we:alternateReferences>
    <we:reference id="WA104381155" version="1.1.4.0" store="ro-RO"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603</TotalTime>
  <Words>805</Words>
  <Application>Microsoft Macintosh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Meiryo</vt:lpstr>
      <vt:lpstr>-webkit-standard</vt:lpstr>
      <vt:lpstr>Aptos</vt:lpstr>
      <vt:lpstr>Aptos Display</vt:lpstr>
      <vt:lpstr>Arial</vt:lpstr>
      <vt:lpstr>Calibri</vt:lpstr>
      <vt:lpstr>Garamond</vt:lpstr>
      <vt:lpstr>Zapfino</vt:lpstr>
      <vt:lpstr>Office Theme</vt:lpstr>
      <vt:lpstr>Artificial Inteligence in Education</vt:lpstr>
      <vt:lpstr>What is AI?</vt:lpstr>
      <vt:lpstr>Why AI Is Useful in Education?</vt:lpstr>
      <vt:lpstr>AI Helping Teachers</vt:lpstr>
      <vt:lpstr>AI and Accessibility</vt:lpstr>
      <vt:lpstr>AI in Language Learning</vt:lpstr>
      <vt:lpstr>Additional Examples in  Language Learning </vt:lpstr>
      <vt:lpstr>AI and Digital Safety</vt:lpstr>
      <vt:lpstr>Smart Classroom   Tools</vt:lpstr>
      <vt:lpstr>Challenges and Disadvantages of AI in Schools </vt:lpstr>
      <vt:lpstr>Risk of Overdependence</vt:lpstr>
      <vt:lpstr>Unequal Access to  Technology</vt:lpstr>
      <vt:lpstr>AI Can Make Mistakes</vt:lpstr>
      <vt:lpstr>The Role of Teachers Is Still Essential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LARISA-MARIA DRAGEA</dc:creator>
  <cp:lastModifiedBy>LARISA-MARIA DRAGEA</cp:lastModifiedBy>
  <cp:revision>8</cp:revision>
  <dcterms:created xsi:type="dcterms:W3CDTF">2025-12-08T13:51:16Z</dcterms:created>
  <dcterms:modified xsi:type="dcterms:W3CDTF">2025-12-09T15:27:40Z</dcterms:modified>
</cp:coreProperties>
</file>